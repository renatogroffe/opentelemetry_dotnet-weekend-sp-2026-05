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3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29" r:id="rId4"/>
    <p:sldMasterId id="2147484404" r:id="rId5"/>
    <p:sldMasterId id="2147484428" r:id="rId6"/>
    <p:sldMasterId id="2147484455" r:id="rId7"/>
  </p:sldMasterIdLst>
  <p:notesMasterIdLst>
    <p:notesMasterId r:id="rId32"/>
  </p:notesMasterIdLst>
  <p:handoutMasterIdLst>
    <p:handoutMasterId r:id="rId33"/>
  </p:handoutMasterIdLst>
  <p:sldIdLst>
    <p:sldId id="1393" r:id="rId8"/>
    <p:sldId id="1834" r:id="rId9"/>
    <p:sldId id="1707" r:id="rId10"/>
    <p:sldId id="1801" r:id="rId11"/>
    <p:sldId id="1518" r:id="rId12"/>
    <p:sldId id="1708" r:id="rId13"/>
    <p:sldId id="1758" r:id="rId14"/>
    <p:sldId id="1753" r:id="rId15"/>
    <p:sldId id="1759" r:id="rId16"/>
    <p:sldId id="1754" r:id="rId17"/>
    <p:sldId id="1751" r:id="rId18"/>
    <p:sldId id="1760" r:id="rId19"/>
    <p:sldId id="1762" r:id="rId20"/>
    <p:sldId id="1820" r:id="rId21"/>
    <p:sldId id="1822" r:id="rId22"/>
    <p:sldId id="1752" r:id="rId23"/>
    <p:sldId id="1773" r:id="rId24"/>
    <p:sldId id="1757" r:id="rId25"/>
    <p:sldId id="1775" r:id="rId26"/>
    <p:sldId id="1779" r:id="rId27"/>
    <p:sldId id="1778" r:id="rId28"/>
    <p:sldId id="1835" r:id="rId29"/>
    <p:sldId id="1777" r:id="rId30"/>
    <p:sldId id="1750" r:id="rId31"/>
  </p:sldIdLst>
  <p:sldSz cx="12436475" cy="6994525"/>
  <p:notesSz cx="6858000" cy="91440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gnite 2016 Template Light" id="{A073DAE3-B461-442F-A3D3-6642BD875E45}">
          <p14:sldIdLst>
            <p14:sldId id="1393"/>
            <p14:sldId id="1834"/>
            <p14:sldId id="1707"/>
            <p14:sldId id="1801"/>
            <p14:sldId id="1518"/>
            <p14:sldId id="1708"/>
            <p14:sldId id="1758"/>
            <p14:sldId id="1753"/>
            <p14:sldId id="1759"/>
            <p14:sldId id="1754"/>
            <p14:sldId id="1751"/>
            <p14:sldId id="1760"/>
            <p14:sldId id="1762"/>
            <p14:sldId id="1820"/>
            <p14:sldId id="1822"/>
            <p14:sldId id="1752"/>
            <p14:sldId id="1773"/>
            <p14:sldId id="1757"/>
            <p14:sldId id="1775"/>
            <p14:sldId id="1779"/>
            <p14:sldId id="1778"/>
            <p14:sldId id="1835"/>
            <p14:sldId id="1777"/>
          </p14:sldIdLst>
        </p14:section>
        <p14:section name="Finalizando" id="{CF622469-3E87-46BA-8ED6-912C47B00EF3}">
          <p14:sldIdLst>
            <p14:sldId id="17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3">
          <p15:clr>
            <a:srgbClr val="A4A3A4"/>
          </p15:clr>
        </p15:guide>
        <p15:guide id="2" pos="39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/>
  <p:cmAuthor id="3" name="Mary Feil-Jacobs" initials="MF" lastIdx="2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B2B2B2"/>
    <a:srgbClr val="EAEAEA"/>
    <a:srgbClr val="F8F8F8"/>
    <a:srgbClr val="FFFFCC"/>
    <a:srgbClr val="CCECFF"/>
    <a:srgbClr val="3366CC"/>
    <a:srgbClr val="008080"/>
    <a:srgbClr val="FFFBD9"/>
    <a:srgbClr val="494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88" autoAdjust="0"/>
    <p:restoredTop sz="79472" autoAdjust="0"/>
  </p:normalViewPr>
  <p:slideViewPr>
    <p:cSldViewPr>
      <p:cViewPr varScale="1">
        <p:scale>
          <a:sx n="81" d="100"/>
          <a:sy n="81" d="100"/>
        </p:scale>
        <p:origin x="629" y="48"/>
      </p:cViewPr>
      <p:guideLst>
        <p:guide orient="horz" pos="2203"/>
        <p:guide pos="39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7152"/>
    </p:cViewPr>
  </p:sorterViewPr>
  <p:notesViewPr>
    <p:cSldViewPr showGuides="1">
      <p:cViewPr varScale="1">
        <p:scale>
          <a:sx n="83" d="100"/>
          <a:sy n="83" d="100"/>
        </p:scale>
        <p:origin x="232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34" Type="http://schemas.openxmlformats.org/officeDocument/2006/relationships/commentAuthors" Target="commentAuthor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presProps" Target="presProp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>
                <a:latin typeface="Segoe UI" pitchFamily="34" charset="0"/>
              </a:rPr>
              <a:t>Microsoft Ignite 2016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D045D-9A66-44E7-900A-FC6D0BD4E54A}" type="datetime8">
              <a:rPr lang="en-US" smtClean="0">
                <a:latin typeface="Segoe UI" pitchFamily="34" charset="0"/>
              </a:rPr>
              <a:t>5/16/2026 4:56 AM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‹nº›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r>
              <a:rPr lang="en-US" dirty="0"/>
              <a:t>Microsoft Ignite 2016</a:t>
            </a:r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EEC551-8CDA-4EB6-89BB-2A86C9F091C8}" type="datetime8">
              <a:rPr lang="en-US" smtClean="0"/>
              <a:t>5/16/2026 4:56 AM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5/16/2026 4:56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1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95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32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F5E24-E170-7DA5-797D-63B9419A3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08E02F1-CC48-1600-13E1-EDD9512EC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63C2294-6D00-70AB-5B32-1E9A41645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D873F75D-6A5E-02DC-69F7-F2F5E93CC81F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2D550D-90E6-9443-25A9-827E7A108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9CC0E5BB-2784-7852-29C2-8974A05C351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5/16/2026 4:56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CE9B2B-137A-FCEA-87AE-DF517B41EA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716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5/16/2026 4:56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934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5/16/2026 4:56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934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5/16/2026 4:56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867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5/16/2026 4:56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1083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5/16/2026 4:56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3918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5/16/2026 4:56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7374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5/16/2026 4:56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8521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5/16/2026 4:56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4181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5/16/2026 4:56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3939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7036B-DA5A-5D73-5223-71C45F3D2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7790315-29FC-08DE-B5B2-14BC107D5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0CBE2F6-40B7-4225-15EC-BD63E8A21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E7FDD7BD-29D2-BA3D-0F82-1BC998BE1CDC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83980F-4B34-5FEC-A492-CACF7F62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5185B5B5-DFE9-BBE9-BF41-DB5B3A9071E5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5/16/2026 4:56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97169CC-CA1A-F9F9-7983-BDECDE63378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397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3426B-11E4-6C81-DE56-31ECA622F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224807B-AAB0-5C4B-EED3-AC45E25E9F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4940A21-ECE3-C9FA-4F70-17658DE03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35FFBFDF-9B62-9E0F-57E4-A0732901AE60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AE8CC3-6EC6-1AA7-F7A9-230D12678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6D47F704-0166-088A-4459-38887272A316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5/16/2026 4:56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352AA4E-A0A1-C2E1-CCB8-0C25988FC4D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9095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5/16/2026 4:56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893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5/16/2026 4:56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4515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5/16/2026 4:56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6781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5/16/2026 4:56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893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83983-00A2-BA24-9FA2-4DD292901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EE5A725-AE9D-7C99-5DA1-D2C51B88A8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58D03F0-1285-9C48-CCA2-4FB4383166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46A973E1-F5C2-FBAA-B42D-A26ABAF443F8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0F5606-23F6-E53B-AF87-32A071BF6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EEFB023E-41BC-66F3-50E0-CCE4E7A2ED6C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5/16/2026 4:56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33B3D09-8CF4-9F81-AA30-6E8ABAABA4A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1678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5/16/2026 4:56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8521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1018B-2330-CA24-C7A7-A7533294D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12076FB-05B8-1BF5-2C75-FCCC0FAA0D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7B6AB81-1E93-565C-28D4-5B45B63DE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E896058C-EE16-79BF-CA71-0839A4439180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E2826C-C4CD-1D9E-028F-C1DAD67B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0E307BE6-3FE8-D944-EBC9-DA48061032F8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5/16/2026 4:56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49CC30-BF46-F11C-4916-E9A29908357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0540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945B0-C657-9321-7E57-BD477E4D3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53FACD-0D94-4670-2924-2DBC1796E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6F8C38-6013-D37D-2823-4746C30FB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487F9B5-A75A-B5B8-310B-EB4BC76BA005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1B164-3A07-7E42-8CDE-01115431A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0F6B981-A456-84C5-299D-B14AEF5DBD02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5/16/2026 4:56 AM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D9330E-DE58-960A-9FF7-8869241C9EC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531169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5/16/2026 4:56 AM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158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587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85010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056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2404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3268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977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599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568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946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335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897602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784147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8934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08698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675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159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962453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69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969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9100929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88989" y="6072577"/>
            <a:ext cx="3002232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</a:t>
            </a:r>
            <a:r>
              <a:rPr lang="en-US" sz="24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aspnetConference</a:t>
            </a: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‬</a:t>
            </a:r>
          </a:p>
        </p:txBody>
      </p:sp>
    </p:spTree>
    <p:extLst>
      <p:ext uri="{BB962C8B-B14F-4D97-AF65-F5344CB8AC3E}">
        <p14:creationId xmlns:p14="http://schemas.microsoft.com/office/powerpoint/2010/main" val="2342740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E4A19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76174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01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3750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6178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7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51069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125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15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819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762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266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467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Evidence Slide">
    <p:bg bwMode="gray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gradFill>
                  <a:gsLst>
                    <a:gs pos="18584">
                      <a:schemeClr val="tx2"/>
                    </a:gs>
                    <a:gs pos="57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Customer evidence slide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274638" y="1434069"/>
            <a:ext cx="5486400" cy="1827214"/>
          </a:xfrm>
          <a:blipFill>
            <a:blip r:embed="rId2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noFill/>
                <a:latin typeface="+mn-lt"/>
                <a:ea typeface="+mn-ea"/>
                <a:cs typeface="+mn-cs"/>
              </a:defRPr>
            </a:lvl1pPr>
            <a:lvl2pPr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6218237" y="4868863"/>
            <a:ext cx="5945966" cy="1828800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2880" tIns="146304" rIns="182880" bIns="146304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</a:endParaRP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218237" y="1434069"/>
            <a:ext cx="5943601" cy="3433208"/>
          </a:xfrm>
          <a:blipFill>
            <a:blip r:embed="rId3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algn="ctr"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 dirty="0"/>
              <a:t>Your image here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5989638" y="1836883"/>
            <a:ext cx="0" cy="4754828"/>
          </a:xfrm>
          <a:prstGeom prst="line">
            <a:avLst/>
          </a:prstGeom>
          <a:ln w="3175">
            <a:solidFill>
              <a:schemeClr val="tx1">
                <a:alpha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274638" y="3260725"/>
            <a:ext cx="5486400" cy="3436938"/>
          </a:xfrm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sz="24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218238" y="4868863"/>
            <a:ext cx="5943600" cy="1827214"/>
          </a:xfrm>
        </p:spPr>
        <p:txBody>
          <a:bodyPr lIns="182880" tIns="146304" rIns="182880" bIns="146304" anchor="ctr">
            <a:noAutofit/>
          </a:bodyPr>
          <a:lstStyle>
            <a:lvl1pPr marL="0" indent="0" algn="ctr">
              <a:buNone/>
              <a:defRPr sz="3200">
                <a:gradFill>
                  <a:gsLst>
                    <a:gs pos="27434">
                      <a:srgbClr val="FFFFFF"/>
                    </a:gs>
                    <a:gs pos="54000">
                      <a:srgbClr val="FFFFFF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197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62245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808889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07403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32457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309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224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752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978516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589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769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</p:spTree>
    <p:extLst>
      <p:ext uri="{BB962C8B-B14F-4D97-AF65-F5344CB8AC3E}">
        <p14:creationId xmlns:p14="http://schemas.microsoft.com/office/powerpoint/2010/main" val="1847824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918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327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1700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94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949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107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84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6823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579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899830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22793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431795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77793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92035">
                      <a:srgbClr val="000000"/>
                    </a:gs>
                    <a:gs pos="75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5737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2959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892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936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099056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464013" y="479425"/>
            <a:ext cx="1436313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06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2310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090993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72E4-1EB3-4AD0-8A8C-9ACF3E18843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ADA7-AC71-4BF6-BCA0-0FC767D289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8979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9038" y="2125663"/>
            <a:ext cx="10058399" cy="1828800"/>
          </a:xfrm>
        </p:spPr>
        <p:txBody>
          <a:bodyPr/>
          <a:lstStyle>
            <a:lvl1pPr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349299"/>
      </p:ext>
    </p:extLst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_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189039" y="2125663"/>
            <a:ext cx="10058400" cy="912813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388474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90736"/>
            <a:ext cx="1449939" cy="306604"/>
          </a:xfrm>
          <a:prstGeom prst="rect">
            <a:avLst/>
          </a:prstGeom>
        </p:spPr>
      </p:pic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3196078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u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Freeform 7"/>
          <p:cNvSpPr>
            <a:spLocks noChangeAspect="1" noEditPoints="1"/>
          </p:cNvSpPr>
          <p:nvPr userDrawn="1"/>
        </p:nvSpPr>
        <p:spPr bwMode="black">
          <a:xfrm>
            <a:off x="457200" y="490736"/>
            <a:ext cx="1239006" cy="310896"/>
          </a:xfrm>
          <a:custGeom>
            <a:avLst/>
            <a:gdLst>
              <a:gd name="T0" fmla="*/ 336 w 2176"/>
              <a:gd name="T1" fmla="*/ 2 h 546"/>
              <a:gd name="T2" fmla="*/ 269 w 2176"/>
              <a:gd name="T3" fmla="*/ 2 h 546"/>
              <a:gd name="T4" fmla="*/ 48 w 2176"/>
              <a:gd name="T5" fmla="*/ 538 h 546"/>
              <a:gd name="T6" fmla="*/ 2128 w 2176"/>
              <a:gd name="T7" fmla="*/ 2 h 546"/>
              <a:gd name="T8" fmla="*/ 2176 w 2176"/>
              <a:gd name="T9" fmla="*/ 2 h 546"/>
              <a:gd name="T10" fmla="*/ 1049 w 2176"/>
              <a:gd name="T11" fmla="*/ 175 h 546"/>
              <a:gd name="T12" fmla="*/ 1025 w 2176"/>
              <a:gd name="T13" fmla="*/ 454 h 546"/>
              <a:gd name="T14" fmla="*/ 937 w 2176"/>
              <a:gd name="T15" fmla="*/ 473 h 546"/>
              <a:gd name="T16" fmla="*/ 892 w 2176"/>
              <a:gd name="T17" fmla="*/ 384 h 546"/>
              <a:gd name="T18" fmla="*/ 809 w 2176"/>
              <a:gd name="T19" fmla="*/ 394 h 546"/>
              <a:gd name="T20" fmla="*/ 975 w 2176"/>
              <a:gd name="T21" fmla="*/ 540 h 546"/>
              <a:gd name="T22" fmla="*/ 1048 w 2176"/>
              <a:gd name="T23" fmla="*/ 482 h 546"/>
              <a:gd name="T24" fmla="*/ 1131 w 2176"/>
              <a:gd name="T25" fmla="*/ 536 h 546"/>
              <a:gd name="T26" fmla="*/ 1293 w 2176"/>
              <a:gd name="T27" fmla="*/ 14 h 546"/>
              <a:gd name="T28" fmla="*/ 1238 w 2176"/>
              <a:gd name="T29" fmla="*/ 3 h 546"/>
              <a:gd name="T30" fmla="*/ 1207 w 2176"/>
              <a:gd name="T31" fmla="*/ 48 h 546"/>
              <a:gd name="T32" fmla="*/ 1237 w 2176"/>
              <a:gd name="T33" fmla="*/ 91 h 546"/>
              <a:gd name="T34" fmla="*/ 1293 w 2176"/>
              <a:gd name="T35" fmla="*/ 81 h 546"/>
              <a:gd name="T36" fmla="*/ 1216 w 2176"/>
              <a:gd name="T37" fmla="*/ 536 h 546"/>
              <a:gd name="T38" fmla="*/ 1216 w 2176"/>
              <a:gd name="T39" fmla="*/ 175 h 546"/>
              <a:gd name="T40" fmla="*/ 1457 w 2176"/>
              <a:gd name="T41" fmla="*/ 536 h 546"/>
              <a:gd name="T42" fmla="*/ 1376 w 2176"/>
              <a:gd name="T43" fmla="*/ 536 h 546"/>
              <a:gd name="T44" fmla="*/ 729 w 2176"/>
              <a:gd name="T45" fmla="*/ 213 h 546"/>
              <a:gd name="T46" fmla="*/ 573 w 2176"/>
              <a:gd name="T47" fmla="*/ 163 h 546"/>
              <a:gd name="T48" fmla="*/ 491 w 2176"/>
              <a:gd name="T49" fmla="*/ 226 h 546"/>
              <a:gd name="T50" fmla="*/ 460 w 2176"/>
              <a:gd name="T51" fmla="*/ 2 h 546"/>
              <a:gd name="T52" fmla="*/ 489 w 2176"/>
              <a:gd name="T53" fmla="*/ 537 h 546"/>
              <a:gd name="T54" fmla="*/ 509 w 2176"/>
              <a:gd name="T55" fmla="*/ 512 h 546"/>
              <a:gd name="T56" fmla="*/ 596 w 2176"/>
              <a:gd name="T57" fmla="*/ 546 h 546"/>
              <a:gd name="T58" fmla="*/ 754 w 2176"/>
              <a:gd name="T59" fmla="*/ 423 h 546"/>
              <a:gd name="T60" fmla="*/ 671 w 2176"/>
              <a:gd name="T61" fmla="*/ 400 h 546"/>
              <a:gd name="T62" fmla="*/ 578 w 2176"/>
              <a:gd name="T63" fmla="*/ 478 h 546"/>
              <a:gd name="T64" fmla="*/ 495 w 2176"/>
              <a:gd name="T65" fmla="*/ 421 h 546"/>
              <a:gd name="T66" fmla="*/ 496 w 2176"/>
              <a:gd name="T67" fmla="*/ 291 h 546"/>
              <a:gd name="T68" fmla="*/ 586 w 2176"/>
              <a:gd name="T69" fmla="*/ 226 h 546"/>
              <a:gd name="T70" fmla="*/ 672 w 2176"/>
              <a:gd name="T71" fmla="*/ 293 h 546"/>
              <a:gd name="T72" fmla="*/ 1866 w 2176"/>
              <a:gd name="T73" fmla="*/ 2 h 546"/>
              <a:gd name="T74" fmla="*/ 1783 w 2176"/>
              <a:gd name="T75" fmla="*/ 220 h 546"/>
              <a:gd name="T76" fmla="*/ 1716 w 2176"/>
              <a:gd name="T77" fmla="*/ 171 h 546"/>
              <a:gd name="T78" fmla="*/ 1561 w 2176"/>
              <a:gd name="T79" fmla="*/ 220 h 546"/>
              <a:gd name="T80" fmla="*/ 1526 w 2176"/>
              <a:gd name="T81" fmla="*/ 443 h 546"/>
              <a:gd name="T82" fmla="*/ 1665 w 2176"/>
              <a:gd name="T83" fmla="*/ 546 h 546"/>
              <a:gd name="T84" fmla="*/ 1763 w 2176"/>
              <a:gd name="T85" fmla="*/ 507 h 546"/>
              <a:gd name="T86" fmla="*/ 1785 w 2176"/>
              <a:gd name="T87" fmla="*/ 537 h 546"/>
              <a:gd name="T88" fmla="*/ 1778 w 2176"/>
              <a:gd name="T89" fmla="*/ 413 h 546"/>
              <a:gd name="T90" fmla="*/ 1692 w 2176"/>
              <a:gd name="T91" fmla="*/ 479 h 546"/>
              <a:gd name="T92" fmla="*/ 1607 w 2176"/>
              <a:gd name="T93" fmla="*/ 414 h 546"/>
              <a:gd name="T94" fmla="*/ 1624 w 2176"/>
              <a:gd name="T95" fmla="*/ 269 h 546"/>
              <a:gd name="T96" fmla="*/ 1732 w 2176"/>
              <a:gd name="T97" fmla="*/ 241 h 546"/>
              <a:gd name="T98" fmla="*/ 1786 w 2176"/>
              <a:gd name="T99" fmla="*/ 326 h 5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176" h="546">
                <a:moveTo>
                  <a:pt x="163" y="538"/>
                </a:moveTo>
                <a:cubicBezTo>
                  <a:pt x="116" y="538"/>
                  <a:pt x="116" y="538"/>
                  <a:pt x="116" y="538"/>
                </a:cubicBezTo>
                <a:cubicBezTo>
                  <a:pt x="336" y="2"/>
                  <a:pt x="336" y="2"/>
                  <a:pt x="336" y="2"/>
                </a:cubicBezTo>
                <a:cubicBezTo>
                  <a:pt x="384" y="2"/>
                  <a:pt x="384" y="2"/>
                  <a:pt x="384" y="2"/>
                </a:cubicBezTo>
                <a:lnTo>
                  <a:pt x="163" y="538"/>
                </a:lnTo>
                <a:close/>
                <a:moveTo>
                  <a:pt x="269" y="2"/>
                </a:moveTo>
                <a:cubicBezTo>
                  <a:pt x="221" y="2"/>
                  <a:pt x="221" y="2"/>
                  <a:pt x="221" y="2"/>
                </a:cubicBezTo>
                <a:cubicBezTo>
                  <a:pt x="0" y="538"/>
                  <a:pt x="0" y="538"/>
                  <a:pt x="0" y="538"/>
                </a:cubicBezTo>
                <a:cubicBezTo>
                  <a:pt x="48" y="538"/>
                  <a:pt x="48" y="538"/>
                  <a:pt x="48" y="538"/>
                </a:cubicBezTo>
                <a:lnTo>
                  <a:pt x="269" y="2"/>
                </a:lnTo>
                <a:close/>
                <a:moveTo>
                  <a:pt x="2176" y="2"/>
                </a:moveTo>
                <a:cubicBezTo>
                  <a:pt x="2128" y="2"/>
                  <a:pt x="2128" y="2"/>
                  <a:pt x="2128" y="2"/>
                </a:cubicBezTo>
                <a:cubicBezTo>
                  <a:pt x="1908" y="538"/>
                  <a:pt x="1908" y="538"/>
                  <a:pt x="1908" y="538"/>
                </a:cubicBezTo>
                <a:cubicBezTo>
                  <a:pt x="1955" y="538"/>
                  <a:pt x="1955" y="538"/>
                  <a:pt x="1955" y="538"/>
                </a:cubicBezTo>
                <a:lnTo>
                  <a:pt x="2176" y="2"/>
                </a:lnTo>
                <a:close/>
                <a:moveTo>
                  <a:pt x="1131" y="536"/>
                </a:moveTo>
                <a:cubicBezTo>
                  <a:pt x="1131" y="175"/>
                  <a:pt x="1131" y="175"/>
                  <a:pt x="1131" y="175"/>
                </a:cubicBezTo>
                <a:cubicBezTo>
                  <a:pt x="1049" y="175"/>
                  <a:pt x="1049" y="175"/>
                  <a:pt x="1049" y="175"/>
                </a:cubicBezTo>
                <a:cubicBezTo>
                  <a:pt x="1049" y="384"/>
                  <a:pt x="1049" y="384"/>
                  <a:pt x="1049" y="384"/>
                </a:cubicBezTo>
                <a:cubicBezTo>
                  <a:pt x="1049" y="399"/>
                  <a:pt x="1047" y="412"/>
                  <a:pt x="1042" y="424"/>
                </a:cubicBezTo>
                <a:cubicBezTo>
                  <a:pt x="1038" y="436"/>
                  <a:pt x="1032" y="446"/>
                  <a:pt x="1025" y="454"/>
                </a:cubicBezTo>
                <a:cubicBezTo>
                  <a:pt x="1017" y="462"/>
                  <a:pt x="1009" y="468"/>
                  <a:pt x="999" y="472"/>
                </a:cubicBezTo>
                <a:cubicBezTo>
                  <a:pt x="989" y="476"/>
                  <a:pt x="978" y="478"/>
                  <a:pt x="967" y="478"/>
                </a:cubicBezTo>
                <a:cubicBezTo>
                  <a:pt x="956" y="478"/>
                  <a:pt x="946" y="476"/>
                  <a:pt x="937" y="473"/>
                </a:cubicBezTo>
                <a:cubicBezTo>
                  <a:pt x="927" y="470"/>
                  <a:pt x="920" y="464"/>
                  <a:pt x="913" y="457"/>
                </a:cubicBezTo>
                <a:cubicBezTo>
                  <a:pt x="906" y="449"/>
                  <a:pt x="901" y="440"/>
                  <a:pt x="897" y="428"/>
                </a:cubicBezTo>
                <a:cubicBezTo>
                  <a:pt x="894" y="416"/>
                  <a:pt x="892" y="401"/>
                  <a:pt x="892" y="384"/>
                </a:cubicBezTo>
                <a:cubicBezTo>
                  <a:pt x="892" y="175"/>
                  <a:pt x="892" y="175"/>
                  <a:pt x="892" y="175"/>
                </a:cubicBezTo>
                <a:cubicBezTo>
                  <a:pt x="809" y="175"/>
                  <a:pt x="809" y="175"/>
                  <a:pt x="809" y="175"/>
                </a:cubicBezTo>
                <a:cubicBezTo>
                  <a:pt x="809" y="394"/>
                  <a:pt x="809" y="394"/>
                  <a:pt x="809" y="394"/>
                </a:cubicBezTo>
                <a:cubicBezTo>
                  <a:pt x="809" y="444"/>
                  <a:pt x="821" y="482"/>
                  <a:pt x="843" y="507"/>
                </a:cubicBezTo>
                <a:cubicBezTo>
                  <a:pt x="865" y="532"/>
                  <a:pt x="897" y="545"/>
                  <a:pt x="939" y="545"/>
                </a:cubicBezTo>
                <a:cubicBezTo>
                  <a:pt x="951" y="545"/>
                  <a:pt x="963" y="543"/>
                  <a:pt x="975" y="540"/>
                </a:cubicBezTo>
                <a:cubicBezTo>
                  <a:pt x="986" y="537"/>
                  <a:pt x="996" y="532"/>
                  <a:pt x="1005" y="526"/>
                </a:cubicBezTo>
                <a:cubicBezTo>
                  <a:pt x="1014" y="521"/>
                  <a:pt x="1022" y="514"/>
                  <a:pt x="1029" y="506"/>
                </a:cubicBezTo>
                <a:cubicBezTo>
                  <a:pt x="1037" y="499"/>
                  <a:pt x="1043" y="490"/>
                  <a:pt x="1048" y="482"/>
                </a:cubicBezTo>
                <a:cubicBezTo>
                  <a:pt x="1049" y="482"/>
                  <a:pt x="1049" y="482"/>
                  <a:pt x="1049" y="482"/>
                </a:cubicBezTo>
                <a:cubicBezTo>
                  <a:pt x="1049" y="536"/>
                  <a:pt x="1049" y="536"/>
                  <a:pt x="1049" y="536"/>
                </a:cubicBezTo>
                <a:lnTo>
                  <a:pt x="1131" y="536"/>
                </a:lnTo>
                <a:close/>
                <a:moveTo>
                  <a:pt x="1307" y="48"/>
                </a:moveTo>
                <a:cubicBezTo>
                  <a:pt x="1307" y="41"/>
                  <a:pt x="1306" y="35"/>
                  <a:pt x="1303" y="29"/>
                </a:cubicBezTo>
                <a:cubicBezTo>
                  <a:pt x="1301" y="23"/>
                  <a:pt x="1297" y="18"/>
                  <a:pt x="1293" y="14"/>
                </a:cubicBezTo>
                <a:cubicBezTo>
                  <a:pt x="1288" y="9"/>
                  <a:pt x="1283" y="6"/>
                  <a:pt x="1277" y="3"/>
                </a:cubicBezTo>
                <a:cubicBezTo>
                  <a:pt x="1271" y="1"/>
                  <a:pt x="1264" y="0"/>
                  <a:pt x="1257" y="0"/>
                </a:cubicBezTo>
                <a:cubicBezTo>
                  <a:pt x="1250" y="0"/>
                  <a:pt x="1244" y="1"/>
                  <a:pt x="1238" y="3"/>
                </a:cubicBezTo>
                <a:cubicBezTo>
                  <a:pt x="1232" y="6"/>
                  <a:pt x="1226" y="9"/>
                  <a:pt x="1222" y="13"/>
                </a:cubicBezTo>
                <a:cubicBezTo>
                  <a:pt x="1217" y="18"/>
                  <a:pt x="1214" y="23"/>
                  <a:pt x="1211" y="29"/>
                </a:cubicBezTo>
                <a:cubicBezTo>
                  <a:pt x="1209" y="34"/>
                  <a:pt x="1207" y="41"/>
                  <a:pt x="1207" y="48"/>
                </a:cubicBezTo>
                <a:cubicBezTo>
                  <a:pt x="1207" y="54"/>
                  <a:pt x="1209" y="60"/>
                  <a:pt x="1211" y="66"/>
                </a:cubicBezTo>
                <a:cubicBezTo>
                  <a:pt x="1214" y="72"/>
                  <a:pt x="1217" y="77"/>
                  <a:pt x="1221" y="81"/>
                </a:cubicBezTo>
                <a:cubicBezTo>
                  <a:pt x="1226" y="85"/>
                  <a:pt x="1231" y="88"/>
                  <a:pt x="1237" y="91"/>
                </a:cubicBezTo>
                <a:cubicBezTo>
                  <a:pt x="1243" y="93"/>
                  <a:pt x="1250" y="95"/>
                  <a:pt x="1257" y="95"/>
                </a:cubicBezTo>
                <a:cubicBezTo>
                  <a:pt x="1264" y="95"/>
                  <a:pt x="1271" y="93"/>
                  <a:pt x="1277" y="91"/>
                </a:cubicBezTo>
                <a:cubicBezTo>
                  <a:pt x="1283" y="88"/>
                  <a:pt x="1289" y="85"/>
                  <a:pt x="1293" y="81"/>
                </a:cubicBezTo>
                <a:cubicBezTo>
                  <a:pt x="1297" y="77"/>
                  <a:pt x="1301" y="72"/>
                  <a:pt x="1303" y="66"/>
                </a:cubicBezTo>
                <a:cubicBezTo>
                  <a:pt x="1306" y="60"/>
                  <a:pt x="1307" y="54"/>
                  <a:pt x="1307" y="48"/>
                </a:cubicBezTo>
                <a:moveTo>
                  <a:pt x="1216" y="536"/>
                </a:moveTo>
                <a:cubicBezTo>
                  <a:pt x="1297" y="536"/>
                  <a:pt x="1297" y="536"/>
                  <a:pt x="1297" y="536"/>
                </a:cubicBezTo>
                <a:cubicBezTo>
                  <a:pt x="1297" y="175"/>
                  <a:pt x="1297" y="175"/>
                  <a:pt x="1297" y="175"/>
                </a:cubicBezTo>
                <a:cubicBezTo>
                  <a:pt x="1216" y="175"/>
                  <a:pt x="1216" y="175"/>
                  <a:pt x="1216" y="175"/>
                </a:cubicBezTo>
                <a:lnTo>
                  <a:pt x="1216" y="536"/>
                </a:lnTo>
                <a:close/>
                <a:moveTo>
                  <a:pt x="1376" y="536"/>
                </a:moveTo>
                <a:cubicBezTo>
                  <a:pt x="1457" y="536"/>
                  <a:pt x="1457" y="536"/>
                  <a:pt x="1457" y="536"/>
                </a:cubicBezTo>
                <a:cubicBezTo>
                  <a:pt x="1457" y="2"/>
                  <a:pt x="1457" y="2"/>
                  <a:pt x="1457" y="2"/>
                </a:cubicBezTo>
                <a:cubicBezTo>
                  <a:pt x="1376" y="2"/>
                  <a:pt x="1376" y="2"/>
                  <a:pt x="1376" y="2"/>
                </a:cubicBezTo>
                <a:lnTo>
                  <a:pt x="1376" y="536"/>
                </a:lnTo>
                <a:close/>
                <a:moveTo>
                  <a:pt x="765" y="342"/>
                </a:moveTo>
                <a:cubicBezTo>
                  <a:pt x="765" y="317"/>
                  <a:pt x="762" y="294"/>
                  <a:pt x="756" y="272"/>
                </a:cubicBezTo>
                <a:cubicBezTo>
                  <a:pt x="750" y="249"/>
                  <a:pt x="741" y="230"/>
                  <a:pt x="729" y="213"/>
                </a:cubicBezTo>
                <a:cubicBezTo>
                  <a:pt x="717" y="196"/>
                  <a:pt x="701" y="183"/>
                  <a:pt x="682" y="173"/>
                </a:cubicBezTo>
                <a:cubicBezTo>
                  <a:pt x="663" y="163"/>
                  <a:pt x="640" y="158"/>
                  <a:pt x="613" y="158"/>
                </a:cubicBezTo>
                <a:cubicBezTo>
                  <a:pt x="599" y="158"/>
                  <a:pt x="585" y="160"/>
                  <a:pt x="573" y="163"/>
                </a:cubicBezTo>
                <a:cubicBezTo>
                  <a:pt x="561" y="166"/>
                  <a:pt x="549" y="171"/>
                  <a:pt x="539" y="177"/>
                </a:cubicBezTo>
                <a:cubicBezTo>
                  <a:pt x="529" y="183"/>
                  <a:pt x="520" y="190"/>
                  <a:pt x="512" y="199"/>
                </a:cubicBezTo>
                <a:cubicBezTo>
                  <a:pt x="504" y="207"/>
                  <a:pt x="497" y="216"/>
                  <a:pt x="491" y="226"/>
                </a:cubicBezTo>
                <a:cubicBezTo>
                  <a:pt x="489" y="226"/>
                  <a:pt x="489" y="226"/>
                  <a:pt x="489" y="226"/>
                </a:cubicBezTo>
                <a:cubicBezTo>
                  <a:pt x="489" y="2"/>
                  <a:pt x="489" y="2"/>
                  <a:pt x="489" y="2"/>
                </a:cubicBezTo>
                <a:cubicBezTo>
                  <a:pt x="460" y="2"/>
                  <a:pt x="460" y="2"/>
                  <a:pt x="460" y="2"/>
                </a:cubicBezTo>
                <a:cubicBezTo>
                  <a:pt x="406" y="133"/>
                  <a:pt x="406" y="133"/>
                  <a:pt x="406" y="133"/>
                </a:cubicBezTo>
                <a:cubicBezTo>
                  <a:pt x="406" y="537"/>
                  <a:pt x="406" y="537"/>
                  <a:pt x="406" y="537"/>
                </a:cubicBezTo>
                <a:cubicBezTo>
                  <a:pt x="489" y="537"/>
                  <a:pt x="489" y="537"/>
                  <a:pt x="489" y="537"/>
                </a:cubicBezTo>
                <a:cubicBezTo>
                  <a:pt x="489" y="490"/>
                  <a:pt x="489" y="490"/>
                  <a:pt x="489" y="490"/>
                </a:cubicBezTo>
                <a:cubicBezTo>
                  <a:pt x="491" y="490"/>
                  <a:pt x="491" y="490"/>
                  <a:pt x="491" y="490"/>
                </a:cubicBezTo>
                <a:cubicBezTo>
                  <a:pt x="496" y="498"/>
                  <a:pt x="502" y="505"/>
                  <a:pt x="509" y="512"/>
                </a:cubicBezTo>
                <a:cubicBezTo>
                  <a:pt x="515" y="519"/>
                  <a:pt x="523" y="525"/>
                  <a:pt x="532" y="530"/>
                </a:cubicBezTo>
                <a:cubicBezTo>
                  <a:pt x="540" y="535"/>
                  <a:pt x="550" y="539"/>
                  <a:pt x="561" y="542"/>
                </a:cubicBezTo>
                <a:cubicBezTo>
                  <a:pt x="571" y="544"/>
                  <a:pt x="583" y="546"/>
                  <a:pt x="596" y="546"/>
                </a:cubicBezTo>
                <a:cubicBezTo>
                  <a:pt x="623" y="546"/>
                  <a:pt x="647" y="541"/>
                  <a:pt x="668" y="530"/>
                </a:cubicBezTo>
                <a:cubicBezTo>
                  <a:pt x="689" y="520"/>
                  <a:pt x="707" y="506"/>
                  <a:pt x="721" y="488"/>
                </a:cubicBezTo>
                <a:cubicBezTo>
                  <a:pt x="736" y="470"/>
                  <a:pt x="747" y="448"/>
                  <a:pt x="754" y="423"/>
                </a:cubicBezTo>
                <a:cubicBezTo>
                  <a:pt x="761" y="398"/>
                  <a:pt x="765" y="371"/>
                  <a:pt x="765" y="342"/>
                </a:cubicBezTo>
                <a:moveTo>
                  <a:pt x="678" y="341"/>
                </a:moveTo>
                <a:cubicBezTo>
                  <a:pt x="678" y="363"/>
                  <a:pt x="676" y="383"/>
                  <a:pt x="671" y="400"/>
                </a:cubicBezTo>
                <a:cubicBezTo>
                  <a:pt x="667" y="418"/>
                  <a:pt x="660" y="432"/>
                  <a:pt x="651" y="443"/>
                </a:cubicBezTo>
                <a:cubicBezTo>
                  <a:pt x="643" y="455"/>
                  <a:pt x="632" y="463"/>
                  <a:pt x="620" y="469"/>
                </a:cubicBezTo>
                <a:cubicBezTo>
                  <a:pt x="607" y="475"/>
                  <a:pt x="593" y="478"/>
                  <a:pt x="578" y="478"/>
                </a:cubicBezTo>
                <a:cubicBezTo>
                  <a:pt x="565" y="478"/>
                  <a:pt x="553" y="475"/>
                  <a:pt x="542" y="470"/>
                </a:cubicBezTo>
                <a:cubicBezTo>
                  <a:pt x="531" y="466"/>
                  <a:pt x="522" y="459"/>
                  <a:pt x="514" y="450"/>
                </a:cubicBezTo>
                <a:cubicBezTo>
                  <a:pt x="506" y="442"/>
                  <a:pt x="500" y="432"/>
                  <a:pt x="495" y="421"/>
                </a:cubicBezTo>
                <a:cubicBezTo>
                  <a:pt x="491" y="410"/>
                  <a:pt x="488" y="397"/>
                  <a:pt x="488" y="384"/>
                </a:cubicBezTo>
                <a:cubicBezTo>
                  <a:pt x="488" y="336"/>
                  <a:pt x="488" y="336"/>
                  <a:pt x="488" y="336"/>
                </a:cubicBezTo>
                <a:cubicBezTo>
                  <a:pt x="488" y="319"/>
                  <a:pt x="491" y="304"/>
                  <a:pt x="496" y="291"/>
                </a:cubicBezTo>
                <a:cubicBezTo>
                  <a:pt x="500" y="278"/>
                  <a:pt x="507" y="266"/>
                  <a:pt x="516" y="257"/>
                </a:cubicBezTo>
                <a:cubicBezTo>
                  <a:pt x="524" y="247"/>
                  <a:pt x="534" y="240"/>
                  <a:pt x="546" y="234"/>
                </a:cubicBezTo>
                <a:cubicBezTo>
                  <a:pt x="558" y="229"/>
                  <a:pt x="571" y="226"/>
                  <a:pt x="586" y="226"/>
                </a:cubicBezTo>
                <a:cubicBezTo>
                  <a:pt x="601" y="226"/>
                  <a:pt x="614" y="229"/>
                  <a:pt x="625" y="234"/>
                </a:cubicBezTo>
                <a:cubicBezTo>
                  <a:pt x="636" y="240"/>
                  <a:pt x="646" y="247"/>
                  <a:pt x="654" y="257"/>
                </a:cubicBezTo>
                <a:cubicBezTo>
                  <a:pt x="662" y="267"/>
                  <a:pt x="668" y="279"/>
                  <a:pt x="672" y="293"/>
                </a:cubicBezTo>
                <a:cubicBezTo>
                  <a:pt x="676" y="307"/>
                  <a:pt x="678" y="323"/>
                  <a:pt x="678" y="341"/>
                </a:cubicBezTo>
                <a:moveTo>
                  <a:pt x="1866" y="537"/>
                </a:moveTo>
                <a:cubicBezTo>
                  <a:pt x="1866" y="2"/>
                  <a:pt x="1866" y="2"/>
                  <a:pt x="1866" y="2"/>
                </a:cubicBezTo>
                <a:cubicBezTo>
                  <a:pt x="1785" y="2"/>
                  <a:pt x="1785" y="2"/>
                  <a:pt x="1785" y="2"/>
                </a:cubicBezTo>
                <a:cubicBezTo>
                  <a:pt x="1785" y="220"/>
                  <a:pt x="1785" y="220"/>
                  <a:pt x="1785" y="220"/>
                </a:cubicBezTo>
                <a:cubicBezTo>
                  <a:pt x="1783" y="220"/>
                  <a:pt x="1783" y="220"/>
                  <a:pt x="1783" y="220"/>
                </a:cubicBezTo>
                <a:cubicBezTo>
                  <a:pt x="1779" y="213"/>
                  <a:pt x="1773" y="206"/>
                  <a:pt x="1767" y="199"/>
                </a:cubicBezTo>
                <a:cubicBezTo>
                  <a:pt x="1760" y="192"/>
                  <a:pt x="1753" y="187"/>
                  <a:pt x="1744" y="182"/>
                </a:cubicBezTo>
                <a:cubicBezTo>
                  <a:pt x="1736" y="177"/>
                  <a:pt x="1726" y="173"/>
                  <a:pt x="1716" y="171"/>
                </a:cubicBezTo>
                <a:cubicBezTo>
                  <a:pt x="1705" y="168"/>
                  <a:pt x="1693" y="167"/>
                  <a:pt x="1681" y="167"/>
                </a:cubicBezTo>
                <a:cubicBezTo>
                  <a:pt x="1656" y="167"/>
                  <a:pt x="1633" y="171"/>
                  <a:pt x="1613" y="181"/>
                </a:cubicBezTo>
                <a:cubicBezTo>
                  <a:pt x="1592" y="190"/>
                  <a:pt x="1575" y="203"/>
                  <a:pt x="1561" y="220"/>
                </a:cubicBezTo>
                <a:cubicBezTo>
                  <a:pt x="1546" y="238"/>
                  <a:pt x="1535" y="259"/>
                  <a:pt x="1527" y="283"/>
                </a:cubicBezTo>
                <a:cubicBezTo>
                  <a:pt x="1519" y="308"/>
                  <a:pt x="1515" y="335"/>
                  <a:pt x="1515" y="365"/>
                </a:cubicBezTo>
                <a:cubicBezTo>
                  <a:pt x="1515" y="394"/>
                  <a:pt x="1519" y="420"/>
                  <a:pt x="1526" y="443"/>
                </a:cubicBezTo>
                <a:cubicBezTo>
                  <a:pt x="1534" y="465"/>
                  <a:pt x="1544" y="484"/>
                  <a:pt x="1558" y="500"/>
                </a:cubicBezTo>
                <a:cubicBezTo>
                  <a:pt x="1571" y="515"/>
                  <a:pt x="1587" y="526"/>
                  <a:pt x="1605" y="534"/>
                </a:cubicBezTo>
                <a:cubicBezTo>
                  <a:pt x="1624" y="542"/>
                  <a:pt x="1643" y="546"/>
                  <a:pt x="1665" y="546"/>
                </a:cubicBezTo>
                <a:cubicBezTo>
                  <a:pt x="1679" y="546"/>
                  <a:pt x="1693" y="544"/>
                  <a:pt x="1705" y="541"/>
                </a:cubicBezTo>
                <a:cubicBezTo>
                  <a:pt x="1717" y="538"/>
                  <a:pt x="1728" y="533"/>
                  <a:pt x="1737" y="528"/>
                </a:cubicBezTo>
                <a:cubicBezTo>
                  <a:pt x="1747" y="522"/>
                  <a:pt x="1756" y="515"/>
                  <a:pt x="1763" y="507"/>
                </a:cubicBezTo>
                <a:cubicBezTo>
                  <a:pt x="1771" y="499"/>
                  <a:pt x="1778" y="490"/>
                  <a:pt x="1783" y="480"/>
                </a:cubicBezTo>
                <a:cubicBezTo>
                  <a:pt x="1785" y="480"/>
                  <a:pt x="1785" y="480"/>
                  <a:pt x="1785" y="480"/>
                </a:cubicBezTo>
                <a:cubicBezTo>
                  <a:pt x="1785" y="537"/>
                  <a:pt x="1785" y="537"/>
                  <a:pt x="1785" y="537"/>
                </a:cubicBezTo>
                <a:lnTo>
                  <a:pt x="1866" y="537"/>
                </a:lnTo>
                <a:close/>
                <a:moveTo>
                  <a:pt x="1786" y="366"/>
                </a:moveTo>
                <a:cubicBezTo>
                  <a:pt x="1786" y="384"/>
                  <a:pt x="1783" y="399"/>
                  <a:pt x="1778" y="413"/>
                </a:cubicBezTo>
                <a:cubicBezTo>
                  <a:pt x="1773" y="427"/>
                  <a:pt x="1767" y="439"/>
                  <a:pt x="1758" y="449"/>
                </a:cubicBezTo>
                <a:cubicBezTo>
                  <a:pt x="1750" y="458"/>
                  <a:pt x="1740" y="466"/>
                  <a:pt x="1728" y="471"/>
                </a:cubicBezTo>
                <a:cubicBezTo>
                  <a:pt x="1717" y="476"/>
                  <a:pt x="1705" y="479"/>
                  <a:pt x="1692" y="479"/>
                </a:cubicBezTo>
                <a:cubicBezTo>
                  <a:pt x="1679" y="479"/>
                  <a:pt x="1667" y="477"/>
                  <a:pt x="1656" y="472"/>
                </a:cubicBezTo>
                <a:cubicBezTo>
                  <a:pt x="1644" y="467"/>
                  <a:pt x="1635" y="460"/>
                  <a:pt x="1626" y="450"/>
                </a:cubicBezTo>
                <a:cubicBezTo>
                  <a:pt x="1618" y="440"/>
                  <a:pt x="1612" y="428"/>
                  <a:pt x="1607" y="414"/>
                </a:cubicBezTo>
                <a:cubicBezTo>
                  <a:pt x="1602" y="399"/>
                  <a:pt x="1600" y="382"/>
                  <a:pt x="1600" y="363"/>
                </a:cubicBezTo>
                <a:cubicBezTo>
                  <a:pt x="1600" y="343"/>
                  <a:pt x="1602" y="325"/>
                  <a:pt x="1606" y="309"/>
                </a:cubicBezTo>
                <a:cubicBezTo>
                  <a:pt x="1610" y="294"/>
                  <a:pt x="1616" y="280"/>
                  <a:pt x="1624" y="269"/>
                </a:cubicBezTo>
                <a:cubicBezTo>
                  <a:pt x="1632" y="257"/>
                  <a:pt x="1642" y="249"/>
                  <a:pt x="1654" y="242"/>
                </a:cubicBezTo>
                <a:cubicBezTo>
                  <a:pt x="1667" y="236"/>
                  <a:pt x="1681" y="233"/>
                  <a:pt x="1697" y="233"/>
                </a:cubicBezTo>
                <a:cubicBezTo>
                  <a:pt x="1709" y="233"/>
                  <a:pt x="1721" y="236"/>
                  <a:pt x="1732" y="241"/>
                </a:cubicBezTo>
                <a:cubicBezTo>
                  <a:pt x="1743" y="245"/>
                  <a:pt x="1752" y="252"/>
                  <a:pt x="1760" y="260"/>
                </a:cubicBezTo>
                <a:cubicBezTo>
                  <a:pt x="1768" y="269"/>
                  <a:pt x="1774" y="279"/>
                  <a:pt x="1779" y="290"/>
                </a:cubicBezTo>
                <a:cubicBezTo>
                  <a:pt x="1783" y="301"/>
                  <a:pt x="1786" y="313"/>
                  <a:pt x="1786" y="326"/>
                </a:cubicBezTo>
                <a:lnTo>
                  <a:pt x="1786" y="36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404040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712663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6518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4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4371038"/>
      </p:ext>
    </p:extLst>
  </p:cSld>
  <p:clrMapOvr>
    <a:masterClrMapping/>
  </p:clrMapOvr>
  <p:transition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4141863"/>
      </p:ext>
    </p:extLst>
  </p:cSld>
  <p:clrMapOvr>
    <a:masterClrMapping/>
  </p:clrMapOvr>
  <p:transition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9870677"/>
      </p:ext>
    </p:extLst>
  </p:cSld>
  <p:clrMapOvr>
    <a:masterClrMapping/>
  </p:clrMapOvr>
  <p:transition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0772207"/>
      </p:ext>
    </p:extLst>
  </p:cSld>
  <p:clrMapOvr>
    <a:masterClrMapping/>
  </p:clrMapOvr>
  <p:transition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2742498"/>
      </p:ext>
    </p:extLst>
  </p:cSld>
  <p:clrMapOvr>
    <a:masterClrMapping/>
  </p:clrMapOvr>
  <p:transition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8247077"/>
      </p:ext>
    </p:extLst>
  </p:cSld>
  <p:clrMapOvr>
    <a:masterClrMapping/>
  </p:clrMapOvr>
  <p:transition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89568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41404170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818256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1239">
                      <a:srgbClr val="FFFFFF"/>
                    </a:gs>
                    <a:gs pos="52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06989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422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Dark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892327"/>
      </p:ext>
    </p:extLst>
  </p:cSld>
  <p:clrMapOvr>
    <a:masterClrMapping/>
  </p:clrMapOvr>
  <p:transition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076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159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369321"/>
      </p:ext>
    </p:extLst>
  </p:cSld>
  <p:clrMapOvr>
    <a:masterClrMapping/>
  </p:clrMapOvr>
  <p:transition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Pr>
        <a:solidFill>
          <a:srgbClr val="5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640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172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66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2.xml"/><Relationship Id="rId16" Type="http://schemas.openxmlformats.org/officeDocument/2006/relationships/slideLayout" Target="../slideLayouts/slideLayout86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80.xml"/><Relationship Id="rId19" Type="http://schemas.openxmlformats.org/officeDocument/2006/relationships/slideLayout" Target="../slideLayouts/slideLayout89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8" r:id="rId1"/>
    <p:sldLayoutId id="2147484300" r:id="rId2"/>
    <p:sldLayoutId id="2147484295" r:id="rId3"/>
    <p:sldLayoutId id="2147484240" r:id="rId4"/>
    <p:sldLayoutId id="2147484296" r:id="rId5"/>
    <p:sldLayoutId id="2147484241" r:id="rId6"/>
    <p:sldLayoutId id="2147484297" r:id="rId7"/>
    <p:sldLayoutId id="2147484244" r:id="rId8"/>
    <p:sldLayoutId id="2147484298" r:id="rId9"/>
    <p:sldLayoutId id="2147484245" r:id="rId10"/>
    <p:sldLayoutId id="2147484247" r:id="rId11"/>
    <p:sldLayoutId id="2147484249" r:id="rId12"/>
    <p:sldLayoutId id="2147484301" r:id="rId13"/>
    <p:sldLayoutId id="2147484251" r:id="rId14"/>
    <p:sldLayoutId id="2147484252" r:id="rId15"/>
    <p:sldLayoutId id="2147484257" r:id="rId16"/>
    <p:sldLayoutId id="2147484258" r:id="rId17"/>
    <p:sldLayoutId id="2147484260" r:id="rId18"/>
    <p:sldLayoutId id="2147484299" r:id="rId19"/>
    <p:sldLayoutId id="2147484263" r:id="rId20"/>
    <p:sldLayoutId id="2147484403" r:id="rId21"/>
    <p:sldLayoutId id="2147484477" r:id="rId22"/>
    <p:sldLayoutId id="2147484478" r:id="rId23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 userDrawn="1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 userDrawn="1">
          <p15:clr>
            <a:srgbClr val="C35EA4"/>
          </p15:clr>
        </p15:guide>
        <p15:guide id="17" pos="7546" userDrawn="1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 userDrawn="1">
          <p15:clr>
            <a:srgbClr val="5ACBF0"/>
          </p15:clr>
        </p15:guide>
        <p15:guide id="25" orient="horz" pos="302" userDrawn="1">
          <p15:clr>
            <a:srgbClr val="C35EA4"/>
          </p15:clr>
        </p15:guide>
        <p15:guide id="26" orient="horz" pos="4104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82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5" r:id="rId1"/>
    <p:sldLayoutId id="2147484406" r:id="rId2"/>
    <p:sldLayoutId id="2147484407" r:id="rId3"/>
    <p:sldLayoutId id="2147484408" r:id="rId4"/>
    <p:sldLayoutId id="2147484409" r:id="rId5"/>
    <p:sldLayoutId id="2147484410" r:id="rId6"/>
    <p:sldLayoutId id="2147484411" r:id="rId7"/>
    <p:sldLayoutId id="2147484412" r:id="rId8"/>
    <p:sldLayoutId id="2147484413" r:id="rId9"/>
    <p:sldLayoutId id="2147484414" r:id="rId10"/>
    <p:sldLayoutId id="2147484415" r:id="rId11"/>
    <p:sldLayoutId id="2147484416" r:id="rId12"/>
    <p:sldLayoutId id="2147484417" r:id="rId13"/>
    <p:sldLayoutId id="2147484418" r:id="rId14"/>
    <p:sldLayoutId id="2147484419" r:id="rId15"/>
    <p:sldLayoutId id="2147484420" r:id="rId16"/>
    <p:sldLayoutId id="2147484421" r:id="rId17"/>
    <p:sldLayoutId id="2147484422" r:id="rId18"/>
    <p:sldLayoutId id="2147484423" r:id="rId19"/>
    <p:sldLayoutId id="2147484424" r:id="rId20"/>
    <p:sldLayoutId id="2147484425" r:id="rId21"/>
    <p:sldLayoutId id="2147484426" r:id="rId22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45" name="Rectangle 44"/>
              <p:cNvSpPr/>
              <p:nvPr userDrawn="1"/>
            </p:nvSpPr>
            <p:spPr bwMode="auto">
              <a:xfrm>
                <a:off x="1586734" y="4543427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G:120 B:215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7" name="Rectangle 36"/>
              <p:cNvSpPr/>
              <p:nvPr userDrawn="1"/>
            </p:nvSpPr>
            <p:spPr bwMode="auto">
              <a:xfrm>
                <a:off x="3419856" y="4543428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G:188 B:242</a:t>
                </a:r>
                <a:endParaRPr lang="en-US" sz="50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>
                  <a:gradFill>
                    <a:gsLst>
                      <a:gs pos="92035">
                        <a:srgbClr val="505050"/>
                      </a:gs>
                      <a:gs pos="27000">
                        <a:srgbClr val="50505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2505456" y="4543426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G:32 B:80</a:t>
                </a:r>
                <a:endParaRPr lang="en-US" sz="5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80 G:80 B:80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115 G:115 B:115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7" name="Group 26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33" name="Rectangle 32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34" name="Rectangle 33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</a:p>
            </p:txBody>
          </p:sp>
          <p:sp>
            <p:nvSpPr>
              <p:cNvPr id="35" name="Rectangle 34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16 G:124 B:16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Secondary colors (use only when</a:t>
              </a:r>
              <a:r>
                <a:rPr lang="en-US" sz="1000" baseline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 necessary)</a:t>
              </a:r>
              <a:endParaRPr lang="en-US" sz="1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7989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9" r:id="rId1"/>
    <p:sldLayoutId id="2147484430" r:id="rId2"/>
    <p:sldLayoutId id="2147484431" r:id="rId3"/>
    <p:sldLayoutId id="2147484432" r:id="rId4"/>
    <p:sldLayoutId id="2147484433" r:id="rId5"/>
    <p:sldLayoutId id="2147484434" r:id="rId6"/>
    <p:sldLayoutId id="2147484435" r:id="rId7"/>
    <p:sldLayoutId id="2147484436" r:id="rId8"/>
    <p:sldLayoutId id="2147484437" r:id="rId9"/>
    <p:sldLayoutId id="2147484438" r:id="rId10"/>
    <p:sldLayoutId id="2147484439" r:id="rId11"/>
    <p:sldLayoutId id="2147484440" r:id="rId12"/>
    <p:sldLayoutId id="2147484441" r:id="rId13"/>
    <p:sldLayoutId id="2147484442" r:id="rId14"/>
    <p:sldLayoutId id="2147484443" r:id="rId15"/>
    <p:sldLayoutId id="2147484444" r:id="rId16"/>
    <p:sldLayoutId id="2147484445" r:id="rId17"/>
    <p:sldLayoutId id="2147484446" r:id="rId18"/>
    <p:sldLayoutId id="2147484447" r:id="rId19"/>
    <p:sldLayoutId id="2147484448" r:id="rId20"/>
    <p:sldLayoutId id="2147484449" r:id="rId21"/>
    <p:sldLayoutId id="2147484450" r:id="rId22"/>
    <p:sldLayoutId id="2147484451" r:id="rId23"/>
    <p:sldLayoutId id="2147484452" r:id="rId24"/>
    <p:sldLayoutId id="2147484453" r:id="rId25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marL="342900" marR="0" lvl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584200" marR="0" lvl="1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2" name="Group 41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43" name="Group 42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50" name="Rectangle 49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rgbClr val="0078D7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51" name="Rectangle 50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rgbClr val="00BCF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G:188 B:242</a:t>
                </a:r>
              </a:p>
            </p:txBody>
          </p:sp>
          <p:sp>
            <p:nvSpPr>
              <p:cNvPr id="52" name="Rectangle 51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rgbClr val="D2D2D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R:210 G:210 B:210</a:t>
                </a:r>
              </a:p>
            </p:txBody>
          </p:sp>
          <p:sp>
            <p:nvSpPr>
              <p:cNvPr id="53" name="Rectangle 52"/>
              <p:cNvSpPr/>
              <p:nvPr userDrawn="1"/>
            </p:nvSpPr>
            <p:spPr bwMode="auto">
              <a:xfrm>
                <a:off x="3419856" y="4543426"/>
                <a:ext cx="869930" cy="289766"/>
              </a:xfrm>
              <a:prstGeom prst="rect">
                <a:avLst/>
              </a:prstGeom>
              <a:solidFill>
                <a:srgbClr val="00205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G:32 B:80</a:t>
                </a:r>
              </a:p>
            </p:txBody>
          </p:sp>
          <p:sp>
            <p:nvSpPr>
              <p:cNvPr id="54" name="Rectangle 53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32323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R:50 G:50 B:50</a:t>
                </a:r>
              </a:p>
            </p:txBody>
          </p:sp>
          <p:sp>
            <p:nvSpPr>
              <p:cNvPr id="55" name="Rectangle 54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R:115 G:115 B:115</a:t>
                </a:r>
              </a:p>
            </p:txBody>
          </p:sp>
        </p:grpSp>
        <p:grpSp>
          <p:nvGrpSpPr>
            <p:cNvPr id="44" name="Group 43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47" name="Rectangle 46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baseline="0" noProof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48" name="Rectangle 47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R:216 G:59 B:1</a:t>
                </a:r>
              </a:p>
            </p:txBody>
          </p:sp>
          <p:sp>
            <p:nvSpPr>
              <p:cNvPr id="49" name="Rectangle 48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R:16 G:124 B:16</a:t>
                </a:r>
              </a:p>
            </p:txBody>
          </p:sp>
        </p:grpSp>
        <p:sp>
          <p:nvSpPr>
            <p:cNvPr id="45" name="TextBox 44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Main colors</a:t>
              </a:r>
            </a:p>
          </p:txBody>
        </p:sp>
        <p:sp>
          <p:nvSpPr>
            <p:cNvPr id="46" name="TextBox 45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Secondary colors (use only when necessary)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29367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56" r:id="rId1"/>
    <p:sldLayoutId id="2147484457" r:id="rId2"/>
    <p:sldLayoutId id="2147484458" r:id="rId3"/>
    <p:sldLayoutId id="2147484459" r:id="rId4"/>
    <p:sldLayoutId id="2147484460" r:id="rId5"/>
    <p:sldLayoutId id="2147484461" r:id="rId6"/>
    <p:sldLayoutId id="2147484462" r:id="rId7"/>
    <p:sldLayoutId id="2147484463" r:id="rId8"/>
    <p:sldLayoutId id="2147484464" r:id="rId9"/>
    <p:sldLayoutId id="2147484465" r:id="rId10"/>
    <p:sldLayoutId id="2147484466" r:id="rId11"/>
    <p:sldLayoutId id="2147484467" r:id="rId12"/>
    <p:sldLayoutId id="2147484468" r:id="rId13"/>
    <p:sldLayoutId id="2147484469" r:id="rId14"/>
    <p:sldLayoutId id="2147484470" r:id="rId15"/>
    <p:sldLayoutId id="2147484471" r:id="rId16"/>
    <p:sldLayoutId id="2147484472" r:id="rId17"/>
    <p:sldLayoutId id="2147484473" r:id="rId18"/>
    <p:sldLayoutId id="2147484474" r:id="rId19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40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24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11" Type="http://schemas.openxmlformats.org/officeDocument/2006/relationships/image" Target="../media/image17.pn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8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3.png"/><Relationship Id="rId5" Type="http://schemas.openxmlformats.org/officeDocument/2006/relationships/image" Target="../media/image19.png"/><Relationship Id="rId4" Type="http://schemas.openxmlformats.org/officeDocument/2006/relationships/image" Target="../media/image9.png"/><Relationship Id="rId9" Type="http://schemas.openxmlformats.org/officeDocument/2006/relationships/image" Target="../media/image1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telemetry.io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rafana.com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rafana.com/oss/alloy-opentelemetry-collector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egertracing.io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zipkin.io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astic.co/pt/observability/application-performance-monitoring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11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05982" y="666693"/>
            <a:ext cx="11201400" cy="2297169"/>
          </a:xfrm>
        </p:spPr>
        <p:txBody>
          <a:bodyPr/>
          <a:lstStyle/>
          <a:p>
            <a:r>
              <a:rPr lang="pt-BR" sz="4400" b="1" dirty="0" err="1"/>
              <a:t>Observabilidade</a:t>
            </a:r>
            <a:r>
              <a:rPr lang="pt-BR" sz="4400" b="1" dirty="0"/>
              <a:t> Unificada com </a:t>
            </a:r>
            <a:r>
              <a:rPr lang="pt-BR" sz="4400" b="1" dirty="0" err="1"/>
              <a:t>OpenTelemetry</a:t>
            </a:r>
            <a:br>
              <a:rPr lang="pt-BR" sz="4400" b="1" dirty="0"/>
            </a:br>
            <a:r>
              <a:rPr lang="pt-BR" sz="3700" b="1" dirty="0" err="1"/>
              <a:t>Tracing</a:t>
            </a:r>
            <a:r>
              <a:rPr lang="pt-BR" sz="3700" b="1" dirty="0"/>
              <a:t> de aplicações distribuídas em .NET e outras </a:t>
            </a:r>
            <a:r>
              <a:rPr lang="pt-BR" sz="3700" b="1" dirty="0" err="1"/>
              <a:t>stacks</a:t>
            </a:r>
            <a:endParaRPr lang="pt-BR" sz="3700" dirty="0"/>
          </a:p>
        </p:txBody>
      </p:sp>
      <p:pic>
        <p:nvPicPr>
          <p:cNvPr id="13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915189BD-7EAE-4A0C-BD8E-B94BE30EF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7" y="5920754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F52FE4D-4A7E-E268-38E9-41C78C5634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9280" y="2692017"/>
            <a:ext cx="6111478" cy="1872045"/>
          </a:xfrm>
        </p:spPr>
        <p:txBody>
          <a:bodyPr/>
          <a:lstStyle/>
          <a:p>
            <a:r>
              <a:rPr lang="en-US" sz="2800" b="1" dirty="0"/>
              <a:t>Renato </a:t>
            </a:r>
            <a:r>
              <a:rPr lang="en-US" sz="2800" b="1" dirty="0" err="1"/>
              <a:t>Groffe</a:t>
            </a:r>
            <a:endParaRPr lang="en-US" sz="2800" b="1" dirty="0"/>
          </a:p>
          <a:p>
            <a:r>
              <a:rPr lang="en-US" sz="2400" dirty="0"/>
              <a:t>Microsoft MVP, MTAC</a:t>
            </a:r>
          </a:p>
          <a:p>
            <a:r>
              <a:rPr lang="en-US" sz="2400" dirty="0"/>
              <a:t>linkedin.com/in/</a:t>
            </a:r>
            <a:r>
              <a:rPr lang="en-US" sz="2400" dirty="0" err="1"/>
              <a:t>renatogroffe</a:t>
            </a:r>
            <a:br>
              <a:rPr lang="en-US" sz="2400" dirty="0"/>
            </a:br>
            <a:r>
              <a:rPr lang="en-US" sz="2400" dirty="0"/>
              <a:t>renatogroffe.medium.com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5" name="Imagem 4" descr="Ícone&#10;&#10;Descrição gerada automaticamente">
            <a:extLst>
              <a:ext uri="{FF2B5EF4-FFF2-40B4-BE49-F238E27FC236}">
                <a16:creationId xmlns:a16="http://schemas.microsoft.com/office/drawing/2014/main" id="{1BEDDD65-7C8C-717D-DDAC-BEC134357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9552" y="2700828"/>
            <a:ext cx="1718329" cy="1718329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5911804C-BCDD-2966-F12C-7B891717A9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71037" y="2713276"/>
            <a:ext cx="1718328" cy="1718328"/>
          </a:xfrm>
          <a:prstGeom prst="rect">
            <a:avLst/>
          </a:prstGeom>
          <a:effectLst/>
        </p:spPr>
      </p:pic>
      <p:pic>
        <p:nvPicPr>
          <p:cNvPr id="2" name="Imagem 1" descr="Uma imagem contendo desenho&#10;&#10;Descrição gerada automaticamente">
            <a:extLst>
              <a:ext uri="{FF2B5EF4-FFF2-40B4-BE49-F238E27FC236}">
                <a16:creationId xmlns:a16="http://schemas.microsoft.com/office/drawing/2014/main" id="{0C8BC6AF-3583-448F-1E5F-EC77837CECC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0590" r="25492"/>
          <a:stretch/>
        </p:blipFill>
        <p:spPr>
          <a:xfrm>
            <a:off x="2555081" y="5946344"/>
            <a:ext cx="2405044" cy="785896"/>
          </a:xfrm>
          <a:prstGeom prst="rect">
            <a:avLst/>
          </a:prstGeom>
        </p:spPr>
      </p:pic>
      <p:pic>
        <p:nvPicPr>
          <p:cNvPr id="3" name="Imagem 2" descr="Desenho de personagem de desenho animado&#10;&#10;O conteúdo gerado por IA pode estar incorreto.">
            <a:extLst>
              <a:ext uri="{FF2B5EF4-FFF2-40B4-BE49-F238E27FC236}">
                <a16:creationId xmlns:a16="http://schemas.microsoft.com/office/drawing/2014/main" id="{CCD278D5-25B8-F4E8-B951-9BB8813E4C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2717" y="5757844"/>
            <a:ext cx="1154100" cy="1154100"/>
          </a:xfrm>
          <a:prstGeom prst="rect">
            <a:avLst/>
          </a:prstGeom>
        </p:spPr>
      </p:pic>
      <p:pic>
        <p:nvPicPr>
          <p:cNvPr id="8" name="Imagem 7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D97EE21C-0F54-D755-E7B1-98FB5BA3C2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4227" y="5527652"/>
            <a:ext cx="1314450" cy="131445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202E9F73-4790-498C-6FBA-3B857BAA0B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77877" y="5642769"/>
            <a:ext cx="1443826" cy="1435893"/>
          </a:xfrm>
          <a:prstGeom prst="rect">
            <a:avLst/>
          </a:prstGeom>
        </p:spPr>
      </p:pic>
      <p:pic>
        <p:nvPicPr>
          <p:cNvPr id="11" name="Imagem 10" descr="Uma imagem contendo objeto, relógio, placa, monitor&#10;&#10;Descrição gerada automaticamente">
            <a:extLst>
              <a:ext uri="{FF2B5EF4-FFF2-40B4-BE49-F238E27FC236}">
                <a16:creationId xmlns:a16="http://schemas.microsoft.com/office/drawing/2014/main" id="{413AA8B4-C727-BCE2-5356-4AB8B8AF0C7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56561" y="6010530"/>
            <a:ext cx="2052933" cy="648727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7DCD12B8-B77A-A49C-A83A-A25B1C24AE4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11673" y="5962654"/>
            <a:ext cx="1267961" cy="79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75595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1916" y="1058862"/>
            <a:ext cx="7692721" cy="5181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Microsoft Most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Valuable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Professional (MVP)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Docker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Captain</a:t>
            </a:r>
            <a:endParaRPr lang="pt-BR" sz="2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Grafana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Champion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APISEC U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Ambassador</a:t>
            </a:r>
            <a:endParaRPr lang="pt-BR" sz="2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Multi-Plataform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Technical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Audience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Contributor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(MTAC)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Arquiteto de Soluções/Software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+20 anos de experiência na área de Tecnologia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Community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Leader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Autor Técnico e Palestrante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837" y="36366"/>
            <a:ext cx="5541788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Renato Groffe</a:t>
            </a:r>
          </a:p>
        </p:txBody>
      </p:sp>
      <p:sp>
        <p:nvSpPr>
          <p:cNvPr id="17" name="Content Placeholder 1"/>
          <p:cNvSpPr txBox="1">
            <a:spLocks/>
          </p:cNvSpPr>
          <p:nvPr/>
        </p:nvSpPr>
        <p:spPr>
          <a:xfrm>
            <a:off x="883" y="6589794"/>
            <a:ext cx="12434710" cy="415870"/>
          </a:xfrm>
          <a:prstGeom prst="rect">
            <a:avLst/>
          </a:prstGeom>
          <a:solidFill>
            <a:srgbClr val="292929"/>
          </a:solidFill>
        </p:spPr>
        <p:txBody>
          <a:bodyPr vert="horz" lIns="93247" tIns="46623" rIns="93247" bIns="46623" rtlCol="0">
            <a:noAutofit/>
          </a:bodyPr>
          <a:lstStyle>
            <a:lvl1pPr marL="342900" indent="-3429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742950" indent="-28575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t-BR" sz="1836" spc="300" dirty="0">
                <a:solidFill>
                  <a:schemeClr val="bg1"/>
                </a:solidFill>
              </a:rPr>
              <a:t>https://renatogroffe.medium.com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F16374F2-EFE7-4775-AD13-95766DD40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113" y="472111"/>
            <a:ext cx="2064045" cy="2290202"/>
          </a:xfrm>
          <a:prstGeom prst="rect">
            <a:avLst/>
          </a:prstGeom>
        </p:spPr>
      </p:pic>
      <p:pic>
        <p:nvPicPr>
          <p:cNvPr id="9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C942EB67-E85D-42B0-8C54-899E7CBFA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23" y="5032824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 descr="Placa branca com texto preto sobre fundo azul&#10;&#10;Descrição gerada automaticamente">
            <a:extLst>
              <a:ext uri="{FF2B5EF4-FFF2-40B4-BE49-F238E27FC236}">
                <a16:creationId xmlns:a16="http://schemas.microsoft.com/office/drawing/2014/main" id="{A06A382F-CB5E-49D3-A714-BF89782F31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290" y="4708755"/>
            <a:ext cx="1403451" cy="140345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1C07B8D-D885-A29F-54DF-949F736538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1898" y="4646564"/>
            <a:ext cx="1600799" cy="1600799"/>
          </a:xfrm>
          <a:prstGeom prst="rect">
            <a:avLst/>
          </a:prstGeom>
        </p:spPr>
      </p:pic>
      <p:pic>
        <p:nvPicPr>
          <p:cNvPr id="7" name="Imagem 6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CAB713EA-9E3B-51D0-845C-81E073A9D4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1895" y="4389477"/>
            <a:ext cx="1699365" cy="1699365"/>
          </a:xfrm>
          <a:prstGeom prst="rect">
            <a:avLst/>
          </a:prstGeom>
        </p:spPr>
      </p:pic>
      <p:pic>
        <p:nvPicPr>
          <p:cNvPr id="4" name="Imagem 3" descr="Código QR&#10;&#10;O conteúdo gerado por IA pode estar incorreto.">
            <a:extLst>
              <a:ext uri="{FF2B5EF4-FFF2-40B4-BE49-F238E27FC236}">
                <a16:creationId xmlns:a16="http://schemas.microsoft.com/office/drawing/2014/main" id="{D58C7CEE-9AAE-6B90-9DC4-80CD1A771B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8736" y="3291903"/>
            <a:ext cx="2768301" cy="2768301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DF927417-7C4B-9284-BD5A-0A0DF27317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28221" y="4433730"/>
            <a:ext cx="2057400" cy="204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31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1916" y="1439861"/>
            <a:ext cx="11426521" cy="49800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3200" dirty="0">
                <a:solidFill>
                  <a:schemeClr val="tx1">
                    <a:lumMod val="50000"/>
                  </a:schemeClr>
                </a:solidFill>
              </a:rPr>
              <a:t>Eventos online e gratuitos</a:t>
            </a:r>
            <a:br>
              <a:rPr lang="pt-BR" sz="32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pt-BR" sz="3200" b="1" u="sng" dirty="0">
                <a:solidFill>
                  <a:schemeClr val="tx1">
                    <a:lumMod val="50000"/>
                  </a:schemeClr>
                </a:solidFill>
              </a:rPr>
              <a:t>https://www.meetup.com/dotnet-Sao-Paulo/</a:t>
            </a:r>
          </a:p>
          <a:p>
            <a:pPr marL="0" indent="0">
              <a:lnSpc>
                <a:spcPct val="100000"/>
              </a:lnSpc>
              <a:buNone/>
            </a:pPr>
            <a:endParaRPr lang="pt-BR" sz="3200" b="1" u="sng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837" y="36366"/>
            <a:ext cx="10820400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Participe de nossas iniciativas gratuitas</a:t>
            </a:r>
          </a:p>
        </p:txBody>
      </p:sp>
      <p:pic>
        <p:nvPicPr>
          <p:cNvPr id="5" name="Imagem 4" descr="Código QR&#10;&#10;Descrição gerada automaticamente">
            <a:extLst>
              <a:ext uri="{FF2B5EF4-FFF2-40B4-BE49-F238E27FC236}">
                <a16:creationId xmlns:a16="http://schemas.microsoft.com/office/drawing/2014/main" id="{FB8779B3-73CC-6E2D-176A-FE27BD34E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137" y="3497262"/>
            <a:ext cx="2362200" cy="23622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BED8B22-7603-A627-207A-9628AA026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837" y="1363662"/>
            <a:ext cx="2113260" cy="132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830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DDCB3-688A-6AC7-A3ED-556E7C746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19A32D-2B68-7979-A26C-4D640C330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Conteúdos desta apresentação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5B73AABD-0E0C-52EB-E837-CB826874F805}"/>
              </a:ext>
            </a:extLst>
          </p:cNvPr>
          <p:cNvSpPr>
            <a:spLocks noGrp="1"/>
          </p:cNvSpPr>
          <p:nvPr/>
        </p:nvSpPr>
        <p:spPr>
          <a:xfrm>
            <a:off x="992553" y="3617497"/>
            <a:ext cx="10483484" cy="53091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500" b="1" dirty="0">
                <a:solidFill>
                  <a:schemeClr val="bg1"/>
                </a:solidFill>
              </a:rPr>
              <a:t>github.com/</a:t>
            </a:r>
            <a:r>
              <a:rPr lang="pt-BR" sz="2500" b="1" dirty="0" err="1">
                <a:solidFill>
                  <a:schemeClr val="bg1"/>
                </a:solidFill>
              </a:rPr>
              <a:t>renatogroffe</a:t>
            </a:r>
            <a:r>
              <a:rPr lang="pt-BR" sz="2500" b="1" dirty="0">
                <a:solidFill>
                  <a:schemeClr val="bg1"/>
                </a:solidFill>
              </a:rPr>
              <a:t>/opentelemetry_dotnet-weekend-sp-2026-05</a:t>
            </a:r>
          </a:p>
        </p:txBody>
      </p:sp>
      <p:pic>
        <p:nvPicPr>
          <p:cNvPr id="7" name="Imagem 6" descr="Ícone&#10;&#10;Descrição gerada automaticamente">
            <a:extLst>
              <a:ext uri="{FF2B5EF4-FFF2-40B4-BE49-F238E27FC236}">
                <a16:creationId xmlns:a16="http://schemas.microsoft.com/office/drawing/2014/main" id="{0C6DC90C-4C0F-559D-D735-5E5AF778A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837" y="4627814"/>
            <a:ext cx="1718329" cy="1718329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9F30DBA6-00AC-A1A0-8366-1499E50A18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43322" y="4640262"/>
            <a:ext cx="1718328" cy="1718328"/>
          </a:xfrm>
          <a:prstGeom prst="rect">
            <a:avLst/>
          </a:prstGeom>
          <a:effectLst/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A094F09-FB32-7787-4DF1-63E74000E2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4881" y="1047941"/>
            <a:ext cx="2366711" cy="236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42974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Agenda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439862"/>
            <a:ext cx="11810999" cy="1902059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 err="1">
                <a:solidFill>
                  <a:srgbClr val="494949"/>
                </a:solidFill>
              </a:rPr>
              <a:t>Tracing</a:t>
            </a:r>
            <a:r>
              <a:rPr lang="pt-BR" sz="3600" dirty="0">
                <a:solidFill>
                  <a:srgbClr val="494949"/>
                </a:solidFill>
              </a:rPr>
              <a:t> Distribuído: uma visão geral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 err="1">
                <a:solidFill>
                  <a:srgbClr val="494949"/>
                </a:solidFill>
              </a:rPr>
              <a:t>OpenTelemetry</a:t>
            </a:r>
            <a:endParaRPr lang="pt-BR" sz="36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Exemplos práticos</a:t>
            </a:r>
          </a:p>
        </p:txBody>
      </p:sp>
      <p:pic>
        <p:nvPicPr>
          <p:cNvPr id="4" name="Imagem 3" descr="Ícone&#10;&#10;Descrição gerada automaticamente">
            <a:extLst>
              <a:ext uri="{FF2B5EF4-FFF2-40B4-BE49-F238E27FC236}">
                <a16:creationId xmlns:a16="http://schemas.microsoft.com/office/drawing/2014/main" id="{6DD12B5C-7134-4795-F5BC-8CFCB0FD9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837" y="4627814"/>
            <a:ext cx="1718329" cy="1718329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26DA1F04-5674-160B-B16C-EFF6ADF0F1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43322" y="4640262"/>
            <a:ext cx="1718328" cy="171832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93939069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Aplicações Distribuídas e </a:t>
            </a:r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Microservices</a:t>
            </a:r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: desafios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744662"/>
            <a:ext cx="7008034" cy="4567404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A importância da </a:t>
            </a:r>
            <a:r>
              <a:rPr lang="pt-BR" sz="3200" b="1" dirty="0" err="1">
                <a:solidFill>
                  <a:srgbClr val="494949"/>
                </a:solidFill>
              </a:rPr>
              <a:t>Observabilidade</a:t>
            </a:r>
            <a:endParaRPr lang="pt-BR" sz="32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Necessidade de monitorar a </a:t>
            </a:r>
            <a:r>
              <a:rPr lang="pt-BR" sz="3200" b="1" dirty="0">
                <a:solidFill>
                  <a:srgbClr val="494949"/>
                </a:solidFill>
              </a:rPr>
              <a:t>comunicação entre várias aplicações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Como analisar todo o caminho percorrido por um </a:t>
            </a:r>
            <a:r>
              <a:rPr lang="pt-BR" sz="3200" b="1" dirty="0">
                <a:solidFill>
                  <a:srgbClr val="494949"/>
                </a:solidFill>
              </a:rPr>
              <a:t>fluxo de negócio</a:t>
            </a:r>
            <a:r>
              <a:rPr lang="pt-BR" sz="3200" dirty="0">
                <a:solidFill>
                  <a:srgbClr val="494949"/>
                </a:solidFill>
              </a:rPr>
              <a:t>?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18DF229-4204-4297-8235-68F13208E6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1837" y="1744662"/>
            <a:ext cx="32004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11467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Pilares da </a:t>
            </a:r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Observabilidade</a:t>
            </a:r>
            <a:endParaRPr lang="pt-BR" sz="44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744662"/>
            <a:ext cx="7008034" cy="3120854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>
                <a:solidFill>
                  <a:srgbClr val="494949"/>
                </a:solidFill>
              </a:rPr>
              <a:t>Logs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>
                <a:solidFill>
                  <a:srgbClr val="494949"/>
                </a:solidFill>
              </a:rPr>
              <a:t>Métricas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>
                <a:solidFill>
                  <a:srgbClr val="494949"/>
                </a:solidFill>
              </a:rPr>
              <a:t>Traces (Rastreamento)</a:t>
            </a:r>
          </a:p>
        </p:txBody>
      </p:sp>
      <p:pic>
        <p:nvPicPr>
          <p:cNvPr id="4" name="Imagem 2" descr="Faca em cima de uma superfície de madeira&#10;&#10;Descrição gerada automaticamente com confiança baixa">
            <a:extLst>
              <a:ext uri="{FF2B5EF4-FFF2-40B4-BE49-F238E27FC236}">
                <a16:creationId xmlns:a16="http://schemas.microsoft.com/office/drawing/2014/main" id="{73AC1FF7-5F88-978D-8428-1C3372535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437" y="2430462"/>
            <a:ext cx="3778044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399537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>
                <a:solidFill>
                  <a:schemeClr val="accent3">
                    <a:lumMod val="75000"/>
                  </a:schemeClr>
                </a:solidFill>
              </a:rPr>
              <a:t>Distributed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pt-BR" dirty="0" err="1">
                <a:solidFill>
                  <a:schemeClr val="accent3">
                    <a:lumMod val="75000"/>
                  </a:schemeClr>
                </a:solidFill>
              </a:rPr>
              <a:t>Tracing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: uma visão geral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744662"/>
            <a:ext cx="7008034" cy="4567404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494949"/>
                </a:solidFill>
              </a:rPr>
              <a:t>Monitoramento de transações</a:t>
            </a:r>
            <a:r>
              <a:rPr lang="pt-BR" sz="3200" dirty="0">
                <a:solidFill>
                  <a:srgbClr val="494949"/>
                </a:solidFill>
              </a:rPr>
              <a:t> em cenários de aplicações distribuídas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Comunicação entre </a:t>
            </a:r>
            <a:r>
              <a:rPr lang="pt-BR" sz="3200" b="1" dirty="0">
                <a:solidFill>
                  <a:srgbClr val="494949"/>
                </a:solidFill>
              </a:rPr>
              <a:t>diferentes sistemas, dependências...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Um </a:t>
            </a:r>
            <a:r>
              <a:rPr lang="pt-BR" sz="3200" b="1" dirty="0">
                <a:solidFill>
                  <a:srgbClr val="494949"/>
                </a:solidFill>
              </a:rPr>
              <a:t>melhor entendimento da arquitetura da solução </a:t>
            </a:r>
            <a:r>
              <a:rPr lang="pt-BR" sz="3200" dirty="0">
                <a:solidFill>
                  <a:srgbClr val="494949"/>
                </a:solidFill>
              </a:rPr>
              <a:t>e das relações entre seus componentes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8563EED7-9C8E-C962-8CEB-8C40EE52FB91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0837" y="2336533"/>
            <a:ext cx="3524468" cy="259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66032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>
                <a:solidFill>
                  <a:schemeClr val="accent3">
                    <a:lumMod val="75000"/>
                  </a:schemeClr>
                </a:solidFill>
              </a:rPr>
              <a:t>Distributed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pt-BR" dirty="0" err="1">
                <a:solidFill>
                  <a:schemeClr val="accent3">
                    <a:lumMod val="75000"/>
                  </a:schemeClr>
                </a:solidFill>
              </a:rPr>
              <a:t>Tracing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: uma visão geral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744662"/>
            <a:ext cx="7008034" cy="3681008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Útil na detecção e resolução de problemas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Identificação de </a:t>
            </a:r>
            <a:r>
              <a:rPr lang="pt-BR" sz="3200" b="1" dirty="0">
                <a:solidFill>
                  <a:srgbClr val="494949"/>
                </a:solidFill>
              </a:rPr>
              <a:t>gargalos de performance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Averiguar </a:t>
            </a:r>
            <a:r>
              <a:rPr lang="pt-BR" sz="3200" b="1" dirty="0">
                <a:solidFill>
                  <a:srgbClr val="494949"/>
                </a:solidFill>
              </a:rPr>
              <a:t>fraudes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8563EED7-9C8E-C962-8CEB-8C40EE52FB91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0837" y="2336533"/>
            <a:ext cx="3524468" cy="259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56358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>
                <a:solidFill>
                  <a:schemeClr val="accent3">
                    <a:lumMod val="75000"/>
                  </a:schemeClr>
                </a:solidFill>
              </a:rPr>
              <a:t>Tracing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: elementos e conceitos importantes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744662"/>
            <a:ext cx="7008034" cy="3447098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494949"/>
                </a:solidFill>
              </a:rPr>
              <a:t>Telemetria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494949"/>
                </a:solidFill>
              </a:rPr>
              <a:t>Log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dirty="0" err="1">
                <a:solidFill>
                  <a:srgbClr val="494949"/>
                </a:solidFill>
              </a:rPr>
              <a:t>Span</a:t>
            </a:r>
            <a:endParaRPr lang="pt-BR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494949"/>
                </a:solidFill>
              </a:rPr>
              <a:t>Trace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494949"/>
                </a:solidFill>
              </a:rPr>
              <a:t>Métricas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588B0960-19A0-06EB-7CF9-BAF23101B518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0837" y="2336533"/>
            <a:ext cx="3524468" cy="259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21522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OpenTelemetry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uma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visão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geral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003" y="1439862"/>
            <a:ext cx="11580034" cy="3804118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494949"/>
                </a:solidFill>
              </a:rPr>
              <a:t>Instrumentação em aplicações para coleta de métricas </a:t>
            </a: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Viabiliza a implementação de </a:t>
            </a:r>
            <a:r>
              <a:rPr lang="pt-BR" sz="2800" b="1" dirty="0" err="1">
                <a:solidFill>
                  <a:srgbClr val="494949"/>
                </a:solidFill>
              </a:rPr>
              <a:t>tracing</a:t>
            </a:r>
            <a:r>
              <a:rPr lang="pt-BR" sz="2800" b="1" dirty="0">
                <a:solidFill>
                  <a:srgbClr val="494949"/>
                </a:solidFill>
              </a:rPr>
              <a:t> distribuído</a:t>
            </a:r>
            <a:r>
              <a:rPr lang="pt-BR" sz="2800" dirty="0">
                <a:solidFill>
                  <a:srgbClr val="494949"/>
                </a:solidFill>
              </a:rPr>
              <a:t> de forma descomplicada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Projeto vinculado à </a:t>
            </a:r>
            <a:r>
              <a:rPr lang="pt-BR" sz="2800" b="1" dirty="0">
                <a:solidFill>
                  <a:srgbClr val="494949"/>
                </a:solidFill>
              </a:rPr>
              <a:t>CNCF (Cloud </a:t>
            </a:r>
            <a:r>
              <a:rPr lang="pt-BR" sz="2800" b="1" dirty="0" err="1">
                <a:solidFill>
                  <a:srgbClr val="494949"/>
                </a:solidFill>
              </a:rPr>
              <a:t>Native</a:t>
            </a:r>
            <a:r>
              <a:rPr lang="pt-BR" sz="2800" b="1" dirty="0">
                <a:solidFill>
                  <a:srgbClr val="494949"/>
                </a:solidFill>
              </a:rPr>
              <a:t> </a:t>
            </a:r>
            <a:r>
              <a:rPr lang="pt-BR" sz="2800" b="1" dirty="0" err="1">
                <a:solidFill>
                  <a:srgbClr val="494949"/>
                </a:solidFill>
              </a:rPr>
              <a:t>Computing</a:t>
            </a:r>
            <a:r>
              <a:rPr lang="pt-BR" sz="2800" b="1" dirty="0">
                <a:solidFill>
                  <a:srgbClr val="494949"/>
                </a:solidFill>
              </a:rPr>
              <a:t> Foundation)</a:t>
            </a:r>
          </a:p>
          <a:p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Site: </a:t>
            </a:r>
            <a:r>
              <a:rPr lang="pt-BR" sz="2800" dirty="0">
                <a:solidFill>
                  <a:srgbClr val="494949"/>
                </a:solidFill>
                <a:hlinkClick r:id="rId3"/>
              </a:rPr>
              <a:t>https://opentelemetry.io/</a:t>
            </a:r>
            <a:endParaRPr lang="pt-BR" sz="2800" dirty="0">
              <a:solidFill>
                <a:srgbClr val="494949"/>
              </a:solidFill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71416CE1-D397-1F5F-0498-E6FA02D7FD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94637" y="5021262"/>
            <a:ext cx="3822701" cy="143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68476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OpenTelemetry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uma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visão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geral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439862"/>
            <a:ext cx="11199034" cy="3484031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Suporte a múltiplas </a:t>
            </a:r>
            <a:r>
              <a:rPr lang="pt-BR" sz="3200" dirty="0" err="1">
                <a:solidFill>
                  <a:srgbClr val="494949"/>
                </a:solidFill>
              </a:rPr>
              <a:t>stacks</a:t>
            </a:r>
            <a:r>
              <a:rPr lang="pt-BR" sz="3200" dirty="0">
                <a:solidFill>
                  <a:srgbClr val="494949"/>
                </a:solidFill>
              </a:rPr>
              <a:t>: </a:t>
            </a:r>
            <a:r>
              <a:rPr lang="pt-BR" sz="3200" b="1" dirty="0">
                <a:solidFill>
                  <a:srgbClr val="494949"/>
                </a:solidFill>
              </a:rPr>
              <a:t>.NET, Java, Node.js, Python, C++, Go, </a:t>
            </a:r>
            <a:r>
              <a:rPr lang="pt-BR" sz="3200" b="1" dirty="0" err="1">
                <a:solidFill>
                  <a:srgbClr val="494949"/>
                </a:solidFill>
              </a:rPr>
              <a:t>Erlang</a:t>
            </a:r>
            <a:r>
              <a:rPr lang="pt-BR" sz="3200" b="1" dirty="0">
                <a:solidFill>
                  <a:srgbClr val="494949"/>
                </a:solidFill>
              </a:rPr>
              <a:t>/Elixir, PHP, Ruby, </a:t>
            </a:r>
            <a:r>
              <a:rPr lang="pt-BR" sz="3200" b="1" dirty="0" err="1">
                <a:solidFill>
                  <a:srgbClr val="494949"/>
                </a:solidFill>
              </a:rPr>
              <a:t>Rust</a:t>
            </a:r>
            <a:r>
              <a:rPr lang="pt-BR" sz="3200" b="1" dirty="0">
                <a:solidFill>
                  <a:srgbClr val="494949"/>
                </a:solidFill>
              </a:rPr>
              <a:t>, Swift...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 err="1">
                <a:solidFill>
                  <a:srgbClr val="494949"/>
                </a:solidFill>
              </a:rPr>
              <a:t>Exporters</a:t>
            </a:r>
            <a:r>
              <a:rPr lang="pt-BR" sz="3200" dirty="0">
                <a:solidFill>
                  <a:srgbClr val="494949"/>
                </a:solidFill>
              </a:rPr>
              <a:t>/soluções de monitoramento com suporte</a:t>
            </a:r>
            <a:r>
              <a:rPr lang="pt-BR" sz="3200" b="1" dirty="0">
                <a:solidFill>
                  <a:srgbClr val="494949"/>
                </a:solidFill>
              </a:rPr>
              <a:t>: Console, </a:t>
            </a:r>
            <a:r>
              <a:rPr lang="pt-BR" sz="3200" b="1" dirty="0" err="1">
                <a:solidFill>
                  <a:srgbClr val="494949"/>
                </a:solidFill>
              </a:rPr>
              <a:t>Grafana</a:t>
            </a:r>
            <a:r>
              <a:rPr lang="pt-BR" sz="3200" b="1" dirty="0">
                <a:solidFill>
                  <a:srgbClr val="494949"/>
                </a:solidFill>
              </a:rPr>
              <a:t> Tempo, Jaeger, </a:t>
            </a:r>
            <a:r>
              <a:rPr lang="pt-BR" sz="3200" b="1" dirty="0" err="1">
                <a:solidFill>
                  <a:srgbClr val="494949"/>
                </a:solidFill>
              </a:rPr>
              <a:t>Zipkin</a:t>
            </a:r>
            <a:r>
              <a:rPr lang="pt-BR" sz="3200" b="1" dirty="0">
                <a:solidFill>
                  <a:srgbClr val="494949"/>
                </a:solidFill>
              </a:rPr>
              <a:t>, </a:t>
            </a:r>
            <a:r>
              <a:rPr lang="pt-BR" sz="3200" b="1" dirty="0" err="1">
                <a:solidFill>
                  <a:srgbClr val="494949"/>
                </a:solidFill>
              </a:rPr>
              <a:t>Elastic</a:t>
            </a:r>
            <a:r>
              <a:rPr lang="pt-BR" sz="3200" b="1" dirty="0">
                <a:solidFill>
                  <a:srgbClr val="494949"/>
                </a:solidFill>
              </a:rPr>
              <a:t> APM, </a:t>
            </a:r>
            <a:r>
              <a:rPr lang="pt-BR" sz="3200" b="1" dirty="0" err="1">
                <a:solidFill>
                  <a:srgbClr val="494949"/>
                </a:solidFill>
              </a:rPr>
              <a:t>Prometheus</a:t>
            </a:r>
            <a:r>
              <a:rPr lang="pt-BR" sz="3200" b="1" dirty="0">
                <a:solidFill>
                  <a:srgbClr val="494949"/>
                </a:solidFill>
              </a:rPr>
              <a:t>, Azure Monitor, </a:t>
            </a:r>
            <a:r>
              <a:rPr lang="pt-BR" sz="3200" b="1" dirty="0" err="1">
                <a:solidFill>
                  <a:srgbClr val="494949"/>
                </a:solidFill>
              </a:rPr>
              <a:t>Application</a:t>
            </a:r>
            <a:r>
              <a:rPr lang="pt-BR" sz="3200" b="1" dirty="0">
                <a:solidFill>
                  <a:srgbClr val="494949"/>
                </a:solidFill>
              </a:rPr>
              <a:t> Insights, </a:t>
            </a:r>
            <a:r>
              <a:rPr lang="pt-BR" sz="3200" b="1" dirty="0" err="1">
                <a:solidFill>
                  <a:srgbClr val="494949"/>
                </a:solidFill>
              </a:rPr>
              <a:t>Dynatrace</a:t>
            </a:r>
            <a:r>
              <a:rPr lang="pt-BR" sz="3200" b="1" dirty="0">
                <a:solidFill>
                  <a:srgbClr val="494949"/>
                </a:solidFill>
              </a:rPr>
              <a:t>, AWS </a:t>
            </a:r>
            <a:r>
              <a:rPr lang="pt-BR" sz="3200" b="1" dirty="0" err="1">
                <a:solidFill>
                  <a:srgbClr val="494949"/>
                </a:solidFill>
              </a:rPr>
              <a:t>CloudWatch</a:t>
            </a:r>
            <a:r>
              <a:rPr lang="pt-BR" sz="3200" b="1" dirty="0">
                <a:solidFill>
                  <a:srgbClr val="494949"/>
                </a:solidFill>
              </a:rPr>
              <a:t>, New </a:t>
            </a:r>
            <a:r>
              <a:rPr lang="pt-BR" sz="3200" b="1" dirty="0" err="1">
                <a:solidFill>
                  <a:srgbClr val="494949"/>
                </a:solidFill>
              </a:rPr>
              <a:t>Relic</a:t>
            </a:r>
            <a:r>
              <a:rPr lang="pt-BR" sz="3200" b="1" dirty="0">
                <a:solidFill>
                  <a:srgbClr val="494949"/>
                </a:solidFill>
              </a:rPr>
              <a:t>...</a:t>
            </a:r>
            <a:endParaRPr lang="pt-BR" sz="3200" dirty="0">
              <a:solidFill>
                <a:srgbClr val="494949"/>
              </a:solidFill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D037172E-9448-3417-252E-5ED7139EF4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94637" y="5021262"/>
            <a:ext cx="3822701" cy="143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89086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OpenTelemetry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uma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visão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geral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003" y="1439862"/>
            <a:ext cx="11199034" cy="3631763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 err="1">
                <a:solidFill>
                  <a:srgbClr val="494949"/>
                </a:solidFill>
              </a:rPr>
              <a:t>OpenTelemetry</a:t>
            </a:r>
            <a:r>
              <a:rPr lang="pt-BR" sz="2800" b="1" dirty="0">
                <a:solidFill>
                  <a:srgbClr val="494949"/>
                </a:solidFill>
              </a:rPr>
              <a:t> </a:t>
            </a:r>
            <a:r>
              <a:rPr lang="pt-BR" sz="2800" b="1" dirty="0" err="1">
                <a:solidFill>
                  <a:srgbClr val="494949"/>
                </a:solidFill>
              </a:rPr>
              <a:t>Collector</a:t>
            </a:r>
            <a:r>
              <a:rPr lang="pt-BR" sz="2800" dirty="0">
                <a:solidFill>
                  <a:srgbClr val="494949"/>
                </a:solidFill>
              </a:rPr>
              <a:t>: mecanismo para receber, processar e exportar dados de </a:t>
            </a:r>
            <a:r>
              <a:rPr lang="pt-BR" sz="2800" b="1" dirty="0">
                <a:solidFill>
                  <a:srgbClr val="494949"/>
                </a:solidFill>
              </a:rPr>
              <a:t>telemetria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 err="1">
                <a:solidFill>
                  <a:srgbClr val="494949"/>
                </a:solidFill>
              </a:rPr>
              <a:t>OpenTelemetry</a:t>
            </a:r>
            <a:r>
              <a:rPr lang="pt-BR" sz="2800" b="1" dirty="0">
                <a:solidFill>
                  <a:srgbClr val="494949"/>
                </a:solidFill>
              </a:rPr>
              <a:t> </a:t>
            </a:r>
            <a:r>
              <a:rPr lang="pt-BR" sz="2800" b="1" dirty="0" err="1">
                <a:solidFill>
                  <a:srgbClr val="494949"/>
                </a:solidFill>
              </a:rPr>
              <a:t>Protocol</a:t>
            </a:r>
            <a:r>
              <a:rPr lang="pt-BR" sz="2800" b="1" dirty="0">
                <a:solidFill>
                  <a:srgbClr val="494949"/>
                </a:solidFill>
              </a:rPr>
              <a:t> (OTLP)</a:t>
            </a:r>
            <a:r>
              <a:rPr lang="pt-BR" sz="2800" dirty="0">
                <a:solidFill>
                  <a:srgbClr val="494949"/>
                </a:solidFill>
              </a:rPr>
              <a:t> → suporte a </a:t>
            </a:r>
            <a:r>
              <a:rPr lang="pt-BR" sz="2800" b="1" dirty="0">
                <a:solidFill>
                  <a:srgbClr val="494949"/>
                </a:solidFill>
              </a:rPr>
              <a:t>HTTP </a:t>
            </a:r>
            <a:r>
              <a:rPr lang="pt-BR" sz="2800" dirty="0">
                <a:solidFill>
                  <a:srgbClr val="494949"/>
                </a:solidFill>
              </a:rPr>
              <a:t>(</a:t>
            </a:r>
            <a:r>
              <a:rPr lang="pt-BR" sz="2800" b="1" dirty="0">
                <a:solidFill>
                  <a:srgbClr val="494949"/>
                </a:solidFill>
              </a:rPr>
              <a:t>porta 4318</a:t>
            </a:r>
            <a:r>
              <a:rPr lang="pt-BR" sz="2800" dirty="0">
                <a:solidFill>
                  <a:srgbClr val="494949"/>
                </a:solidFill>
              </a:rPr>
              <a:t>) e </a:t>
            </a:r>
            <a:r>
              <a:rPr lang="pt-BR" sz="2800" b="1" dirty="0" err="1">
                <a:solidFill>
                  <a:srgbClr val="494949"/>
                </a:solidFill>
              </a:rPr>
              <a:t>gRPC</a:t>
            </a:r>
            <a:r>
              <a:rPr lang="pt-BR" sz="2800" b="1" dirty="0">
                <a:solidFill>
                  <a:srgbClr val="494949"/>
                </a:solidFill>
              </a:rPr>
              <a:t> </a:t>
            </a:r>
            <a:r>
              <a:rPr lang="pt-BR" sz="2800" dirty="0">
                <a:solidFill>
                  <a:srgbClr val="494949"/>
                </a:solidFill>
              </a:rPr>
              <a:t>(</a:t>
            </a:r>
            <a:r>
              <a:rPr lang="pt-BR" sz="2800" b="1" dirty="0">
                <a:solidFill>
                  <a:srgbClr val="494949"/>
                </a:solidFill>
              </a:rPr>
              <a:t>porta 4317</a:t>
            </a:r>
            <a:r>
              <a:rPr lang="pt-BR" sz="2800" dirty="0">
                <a:solidFill>
                  <a:srgbClr val="494949"/>
                </a:solidFill>
              </a:rPr>
              <a:t>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 err="1">
                <a:solidFill>
                  <a:srgbClr val="494949"/>
                </a:solidFill>
              </a:rPr>
              <a:t>Sampling</a:t>
            </a:r>
            <a:r>
              <a:rPr lang="pt-BR" sz="2800" dirty="0">
                <a:solidFill>
                  <a:srgbClr val="494949"/>
                </a:solidFill>
              </a:rPr>
              <a:t> para coletar apenas percentuais da instrumentação (redução de custos, uso mais reacional de recursos computacionais)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D037172E-9448-3417-252E-5ED7139EF4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94637" y="5021262"/>
            <a:ext cx="3822701" cy="143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98422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7A8DD-C4F4-CCEF-135B-1131F7523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C783B2-CADD-9904-D5C3-EC8368F47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OpenTelemetry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+ .NET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5806258-1E0F-BEC5-314F-85FE903B7C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03437" y="6046203"/>
            <a:ext cx="4724400" cy="572464"/>
          </a:xfrm>
        </p:spPr>
        <p:txBody>
          <a:bodyPr/>
          <a:lstStyle/>
          <a:p>
            <a:r>
              <a:rPr lang="pt-BR" sz="2800" dirty="0">
                <a:solidFill>
                  <a:schemeClr val="tx1"/>
                </a:solidFill>
              </a:rPr>
              <a:t>Fonte: Microsoft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717B7001-F8B6-48D9-AE5C-9833A8E174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237" y="1187449"/>
            <a:ext cx="12192000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761291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4D6E5-E37E-BB9B-0529-DA82CFE3B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40965D-2CFF-393B-19BE-6AD202F76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OpenTelemetry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+ .NET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7FCDBB-8B43-AFAE-362A-4C956FE6F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003" y="1439862"/>
            <a:ext cx="8303434" cy="4191917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Bibliotecas para monitoramento de interações com </a:t>
            </a:r>
            <a:r>
              <a:rPr lang="pt-BR" sz="2800" b="1" dirty="0">
                <a:solidFill>
                  <a:srgbClr val="494949"/>
                </a:solidFill>
              </a:rPr>
              <a:t>bancos de dados, soluções de mensageria, serviços em nuvem...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Compatibilidade com as </a:t>
            </a:r>
            <a:r>
              <a:rPr lang="pt-BR" sz="2800" b="1" dirty="0">
                <a:solidFill>
                  <a:srgbClr val="494949"/>
                </a:solidFill>
              </a:rPr>
              <a:t>principais alternativas de </a:t>
            </a:r>
            <a:r>
              <a:rPr lang="pt-BR" sz="2800" b="1" dirty="0" err="1">
                <a:solidFill>
                  <a:srgbClr val="494949"/>
                </a:solidFill>
              </a:rPr>
              <a:t>observabilidade</a:t>
            </a:r>
            <a:r>
              <a:rPr lang="pt-BR" sz="2800" b="1" dirty="0">
                <a:solidFill>
                  <a:srgbClr val="494949"/>
                </a:solidFill>
              </a:rPr>
              <a:t> no mercado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Forte integração com </a:t>
            </a:r>
            <a:r>
              <a:rPr lang="pt-BR" sz="2800" b="1" dirty="0" err="1">
                <a:solidFill>
                  <a:srgbClr val="494949"/>
                </a:solidFill>
              </a:rPr>
              <a:t>System.Diagnostics</a:t>
            </a:r>
            <a:endParaRPr lang="pt-BR" sz="28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Um componente essencial dentro do </a:t>
            </a:r>
            <a:r>
              <a:rPr lang="pt-BR" sz="2800" b="1" dirty="0">
                <a:solidFill>
                  <a:srgbClr val="494949"/>
                </a:solidFill>
              </a:rPr>
              <a:t>.NET Aspire</a:t>
            </a:r>
          </a:p>
        </p:txBody>
      </p:sp>
      <p:pic>
        <p:nvPicPr>
          <p:cNvPr id="4" name="Imagem 3" descr="Ícone&#10;&#10;Descrição gerada automaticamente">
            <a:extLst>
              <a:ext uri="{FF2B5EF4-FFF2-40B4-BE49-F238E27FC236}">
                <a16:creationId xmlns:a16="http://schemas.microsoft.com/office/drawing/2014/main" id="{23950DD2-D8B0-A0EF-DD07-EBBE9B9D0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4218" y="1623850"/>
            <a:ext cx="1718329" cy="1718329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443807D1-B7DA-961A-3FF5-E963FA270A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99637" y="3954462"/>
            <a:ext cx="1718328" cy="171832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085767921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Grafana: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uma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visão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geral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003" y="1211262"/>
            <a:ext cx="8379634" cy="4825937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b="1" dirty="0">
                <a:solidFill>
                  <a:srgbClr val="494949"/>
                </a:solidFill>
              </a:rPr>
              <a:t>Monitoramento</a:t>
            </a:r>
            <a:r>
              <a:rPr lang="pt-BR" sz="2900" dirty="0">
                <a:solidFill>
                  <a:srgbClr val="494949"/>
                </a:solidFill>
              </a:rPr>
              <a:t> e </a:t>
            </a:r>
            <a:r>
              <a:rPr lang="pt-BR" sz="2900" b="1" dirty="0" err="1">
                <a:solidFill>
                  <a:srgbClr val="494949"/>
                </a:solidFill>
              </a:rPr>
              <a:t>observabilidade</a:t>
            </a:r>
            <a:r>
              <a:rPr lang="pt-BR" sz="2900" dirty="0">
                <a:solidFill>
                  <a:srgbClr val="494949"/>
                </a:solidFill>
              </a:rPr>
              <a:t> de aplicações e infraestrutura</a:t>
            </a:r>
            <a:br>
              <a:rPr lang="pt-BR" sz="2900" b="1" dirty="0">
                <a:solidFill>
                  <a:srgbClr val="494949"/>
                </a:solidFill>
              </a:rPr>
            </a:br>
            <a:endParaRPr lang="pt-BR" sz="29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b="1" dirty="0">
                <a:solidFill>
                  <a:srgbClr val="494949"/>
                </a:solidFill>
              </a:rPr>
              <a:t>Dashboards</a:t>
            </a:r>
            <a:r>
              <a:rPr lang="pt-BR" sz="2900" dirty="0">
                <a:solidFill>
                  <a:srgbClr val="494949"/>
                </a:solidFill>
              </a:rPr>
              <a:t> para visualização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9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b="1" dirty="0">
                <a:solidFill>
                  <a:srgbClr val="494949"/>
                </a:solidFill>
              </a:rPr>
              <a:t>Alertas de monitoramento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9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b="1" dirty="0">
                <a:solidFill>
                  <a:srgbClr val="494949"/>
                </a:solidFill>
              </a:rPr>
              <a:t>Open </a:t>
            </a:r>
            <a:r>
              <a:rPr lang="pt-BR" sz="2900" b="1" dirty="0" err="1">
                <a:solidFill>
                  <a:srgbClr val="494949"/>
                </a:solidFill>
              </a:rPr>
              <a:t>source</a:t>
            </a:r>
            <a:endParaRPr lang="pt-BR" sz="29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9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dirty="0">
                <a:solidFill>
                  <a:srgbClr val="494949"/>
                </a:solidFill>
              </a:rPr>
              <a:t>Site: </a:t>
            </a:r>
            <a:r>
              <a:rPr lang="pt-BR" sz="2900" dirty="0">
                <a:solidFill>
                  <a:srgbClr val="494949"/>
                </a:solidFill>
                <a:hlinkClick r:id="rId3"/>
              </a:rPr>
              <a:t>https://grafana.com/</a:t>
            </a:r>
            <a:endParaRPr lang="pt-BR" sz="2900" dirty="0">
              <a:solidFill>
                <a:srgbClr val="494949"/>
              </a:solidFill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7C2199B3-487D-DB28-0D24-9C4B29758B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09037" y="2063749"/>
            <a:ext cx="2757057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881790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>
                <a:solidFill>
                  <a:schemeClr val="accent3">
                    <a:lumMod val="75000"/>
                  </a:schemeClr>
                </a:solidFill>
              </a:rPr>
              <a:t>Ecossistema</a:t>
            </a:r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 Grafana + </a:t>
            </a:r>
            <a:r>
              <a:rPr lang="en-US" sz="4000" dirty="0" err="1">
                <a:solidFill>
                  <a:schemeClr val="accent3">
                    <a:lumMod val="75000"/>
                  </a:schemeClr>
                </a:solidFill>
              </a:rPr>
              <a:t>OpenTelemetry</a:t>
            </a:r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 + Prometheus</a:t>
            </a:r>
            <a:endParaRPr lang="pt-B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6" name="Imagem 5" descr="Diagrama&#10;&#10;O conteúdo gerado por IA pode estar incorreto.">
            <a:extLst>
              <a:ext uri="{FF2B5EF4-FFF2-40B4-BE49-F238E27FC236}">
                <a16:creationId xmlns:a16="http://schemas.microsoft.com/office/drawing/2014/main" id="{54611375-A4D6-306F-F1B3-12804FD0E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881" y="1439862"/>
            <a:ext cx="10922711" cy="494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087632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Alloy: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uma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visão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geral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003" y="1287462"/>
            <a:ext cx="8379634" cy="5207579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 err="1">
                <a:solidFill>
                  <a:srgbClr val="494949"/>
                </a:solidFill>
              </a:rPr>
              <a:t>Collector</a:t>
            </a:r>
            <a:r>
              <a:rPr lang="pt-BR" sz="3200" b="1" dirty="0">
                <a:solidFill>
                  <a:srgbClr val="494949"/>
                </a:solidFill>
              </a:rPr>
              <a:t> baseado no </a:t>
            </a:r>
            <a:r>
              <a:rPr lang="pt-BR" sz="3200" b="1" dirty="0" err="1">
                <a:solidFill>
                  <a:srgbClr val="494949"/>
                </a:solidFill>
              </a:rPr>
              <a:t>OpenTelemetry</a:t>
            </a:r>
            <a:r>
              <a:rPr lang="pt-BR" sz="3200" b="1" dirty="0">
                <a:solidFill>
                  <a:srgbClr val="494949"/>
                </a:solidFill>
              </a:rPr>
              <a:t> </a:t>
            </a:r>
            <a:r>
              <a:rPr lang="pt-BR" sz="3200" b="1" dirty="0" err="1">
                <a:solidFill>
                  <a:srgbClr val="494949"/>
                </a:solidFill>
              </a:rPr>
              <a:t>Protocol</a:t>
            </a:r>
            <a:r>
              <a:rPr lang="pt-BR" sz="3200" b="1" dirty="0">
                <a:solidFill>
                  <a:srgbClr val="494949"/>
                </a:solidFill>
              </a:rPr>
              <a:t> (OTLP)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494949"/>
                </a:solidFill>
              </a:rPr>
              <a:t>Open </a:t>
            </a:r>
            <a:r>
              <a:rPr lang="pt-BR" sz="3200" b="1" dirty="0" err="1">
                <a:solidFill>
                  <a:srgbClr val="494949"/>
                </a:solidFill>
              </a:rPr>
              <a:t>source</a:t>
            </a:r>
            <a:endParaRPr lang="pt-BR" sz="32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494949"/>
                </a:solidFill>
              </a:rPr>
              <a:t>Pode exigir o uso de </a:t>
            </a:r>
            <a:r>
              <a:rPr lang="pt-BR" sz="3200" b="1" dirty="0" err="1">
                <a:solidFill>
                  <a:srgbClr val="494949"/>
                </a:solidFill>
              </a:rPr>
              <a:t>packages</a:t>
            </a:r>
            <a:r>
              <a:rPr lang="pt-BR" sz="3200" b="1" dirty="0">
                <a:solidFill>
                  <a:srgbClr val="494949"/>
                </a:solidFill>
              </a:rPr>
              <a:t> específicos em aplicações, dependendo da </a:t>
            </a:r>
            <a:r>
              <a:rPr lang="pt-BR" sz="3200" b="1" dirty="0" err="1">
                <a:solidFill>
                  <a:srgbClr val="494949"/>
                </a:solidFill>
              </a:rPr>
              <a:t>stack</a:t>
            </a: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Site: </a:t>
            </a:r>
            <a:r>
              <a:rPr lang="pt-BR" sz="3200" dirty="0">
                <a:solidFill>
                  <a:srgbClr val="494949"/>
                </a:solidFill>
                <a:hlinkClick r:id="rId3"/>
              </a:rPr>
              <a:t>https://grafana.com/oss/alloy-opentelemetry-collector/</a:t>
            </a:r>
            <a:endParaRPr lang="pt-BR" sz="3200" dirty="0">
              <a:solidFill>
                <a:srgbClr val="494949"/>
              </a:solidFill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717416-7D94-E8CF-CDC4-8384B6CFAA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94837" y="2755252"/>
            <a:ext cx="18288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550901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Jaeger: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uma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visão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geral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003" y="1439862"/>
            <a:ext cx="8379634" cy="4321183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494949"/>
                </a:solidFill>
              </a:rPr>
              <a:t>Monitoramento de transações distribuídas</a:t>
            </a:r>
          </a:p>
          <a:p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Análise de </a:t>
            </a:r>
            <a:r>
              <a:rPr lang="pt-BR" sz="3200" b="1" dirty="0">
                <a:solidFill>
                  <a:srgbClr val="494949"/>
                </a:solidFill>
              </a:rPr>
              <a:t>dependências envolvidas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Dados persistidos em soluções como </a:t>
            </a:r>
            <a:r>
              <a:rPr lang="pt-BR" sz="3200" b="1" dirty="0" err="1">
                <a:solidFill>
                  <a:srgbClr val="494949"/>
                </a:solidFill>
              </a:rPr>
              <a:t>Elasticsearch</a:t>
            </a:r>
            <a:r>
              <a:rPr lang="pt-BR" sz="3200" b="1" dirty="0">
                <a:solidFill>
                  <a:srgbClr val="494949"/>
                </a:solidFill>
              </a:rPr>
              <a:t>,</a:t>
            </a:r>
            <a:r>
              <a:rPr lang="pt-BR" sz="3200" dirty="0">
                <a:solidFill>
                  <a:srgbClr val="494949"/>
                </a:solidFill>
              </a:rPr>
              <a:t> </a:t>
            </a:r>
            <a:r>
              <a:rPr lang="pt-BR" sz="3200" b="1" dirty="0">
                <a:solidFill>
                  <a:srgbClr val="494949"/>
                </a:solidFill>
              </a:rPr>
              <a:t>Cassandra...</a:t>
            </a:r>
          </a:p>
          <a:p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Site: </a:t>
            </a:r>
            <a:r>
              <a:rPr lang="pt-BR" sz="3200" dirty="0">
                <a:solidFill>
                  <a:srgbClr val="494949"/>
                </a:solidFill>
                <a:hlinkClick r:id="rId3"/>
              </a:rPr>
              <a:t>https://www.jaegertracing.io/</a:t>
            </a:r>
            <a:endParaRPr lang="pt-BR" sz="3200" dirty="0">
              <a:solidFill>
                <a:srgbClr val="494949"/>
              </a:solidFill>
            </a:endParaRPr>
          </a:p>
        </p:txBody>
      </p:sp>
      <p:pic>
        <p:nvPicPr>
          <p:cNvPr id="5" name="Imagem 4" descr="Forma&#10;&#10;Descrição gerada automaticamente">
            <a:extLst>
              <a:ext uri="{FF2B5EF4-FFF2-40B4-BE49-F238E27FC236}">
                <a16:creationId xmlns:a16="http://schemas.microsoft.com/office/drawing/2014/main" id="{ED4BB8A6-D9D6-1A67-3CB2-02918832C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637" y="2506662"/>
            <a:ext cx="2213982" cy="221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118616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58399-97FD-D29B-EF39-544FCEAEB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37A484-148E-DDAD-3B05-180175757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Zipkin: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uma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visão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geral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F354A3-2F64-E206-C5A7-D0C9BC763F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003" y="1439862"/>
            <a:ext cx="8379634" cy="5207579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Outra alternativa para </a:t>
            </a:r>
            <a:r>
              <a:rPr lang="pt-BR" sz="3200" b="1" dirty="0">
                <a:solidFill>
                  <a:srgbClr val="494949"/>
                </a:solidFill>
              </a:rPr>
              <a:t>monitoramento de transações distribuídas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494949"/>
                </a:solidFill>
              </a:rPr>
              <a:t>Dashboards para análises das dependências envolvidas</a:t>
            </a: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Dados persistidos também em soluções como </a:t>
            </a:r>
            <a:r>
              <a:rPr lang="pt-BR" sz="3200" b="1" dirty="0" err="1">
                <a:solidFill>
                  <a:srgbClr val="494949"/>
                </a:solidFill>
              </a:rPr>
              <a:t>Elasticsearch</a:t>
            </a:r>
            <a:r>
              <a:rPr lang="pt-BR" sz="3200" b="1" dirty="0">
                <a:solidFill>
                  <a:srgbClr val="494949"/>
                </a:solidFill>
              </a:rPr>
              <a:t> </a:t>
            </a:r>
            <a:r>
              <a:rPr lang="pt-BR" sz="3200" dirty="0">
                <a:solidFill>
                  <a:srgbClr val="494949"/>
                </a:solidFill>
              </a:rPr>
              <a:t>e </a:t>
            </a:r>
            <a:r>
              <a:rPr lang="pt-BR" sz="3200" b="1" dirty="0">
                <a:solidFill>
                  <a:srgbClr val="494949"/>
                </a:solidFill>
              </a:rPr>
              <a:t>Cassandra</a:t>
            </a:r>
          </a:p>
          <a:p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Site: </a:t>
            </a:r>
            <a:r>
              <a:rPr lang="pt-BR" sz="3200" dirty="0">
                <a:solidFill>
                  <a:srgbClr val="494949"/>
                </a:solidFill>
                <a:hlinkClick r:id="rId3"/>
              </a:rPr>
              <a:t>https://zipkin.io/</a:t>
            </a:r>
            <a:endParaRPr lang="pt-BR" sz="3200" dirty="0">
              <a:solidFill>
                <a:srgbClr val="494949"/>
              </a:solidFill>
            </a:endParaRPr>
          </a:p>
        </p:txBody>
      </p:sp>
      <p:pic>
        <p:nvPicPr>
          <p:cNvPr id="8" name="Imagem 7" descr="Logotipo&#10;&#10;O conteúdo gerado por IA pode estar incorreto.">
            <a:extLst>
              <a:ext uri="{FF2B5EF4-FFF2-40B4-BE49-F238E27FC236}">
                <a16:creationId xmlns:a16="http://schemas.microsoft.com/office/drawing/2014/main" id="{28CED869-2229-E2C4-471E-09A133696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7962" y="2430462"/>
            <a:ext cx="237806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56783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Elastic APM: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uma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visão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geral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003" y="1439862"/>
            <a:ext cx="9217834" cy="4468916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494949"/>
                </a:solidFill>
              </a:rPr>
              <a:t>APM: </a:t>
            </a:r>
            <a:r>
              <a:rPr lang="pt-BR" sz="2800" b="1" dirty="0" err="1">
                <a:solidFill>
                  <a:srgbClr val="494949"/>
                </a:solidFill>
              </a:rPr>
              <a:t>Application</a:t>
            </a:r>
            <a:r>
              <a:rPr lang="pt-BR" sz="2800" b="1" dirty="0">
                <a:solidFill>
                  <a:srgbClr val="494949"/>
                </a:solidFill>
              </a:rPr>
              <a:t> Performance </a:t>
            </a:r>
            <a:r>
              <a:rPr lang="pt-BR" sz="2800" b="1" dirty="0" err="1">
                <a:solidFill>
                  <a:srgbClr val="494949"/>
                </a:solidFill>
              </a:rPr>
              <a:t>Monitoring</a:t>
            </a:r>
            <a:endParaRPr lang="pt-BR" sz="28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Parte integrante da </a:t>
            </a:r>
            <a:r>
              <a:rPr lang="pt-BR" sz="2800" b="1" dirty="0" err="1">
                <a:solidFill>
                  <a:srgbClr val="494949"/>
                </a:solidFill>
              </a:rPr>
              <a:t>Elastic</a:t>
            </a:r>
            <a:r>
              <a:rPr lang="pt-BR" sz="2800" b="1" dirty="0">
                <a:solidFill>
                  <a:srgbClr val="494949"/>
                </a:solidFill>
              </a:rPr>
              <a:t> Stack</a:t>
            </a:r>
            <a:r>
              <a:rPr lang="pt-BR" sz="2800" dirty="0">
                <a:solidFill>
                  <a:srgbClr val="494949"/>
                </a:solidFill>
              </a:rPr>
              <a:t>, que inclui </a:t>
            </a:r>
            <a:r>
              <a:rPr lang="pt-BR" sz="2800" b="1" dirty="0" err="1">
                <a:solidFill>
                  <a:srgbClr val="494949"/>
                </a:solidFill>
              </a:rPr>
              <a:t>Elasticsearch</a:t>
            </a:r>
            <a:r>
              <a:rPr lang="pt-BR" sz="2800" dirty="0">
                <a:solidFill>
                  <a:srgbClr val="494949"/>
                </a:solidFill>
              </a:rPr>
              <a:t> e </a:t>
            </a:r>
            <a:r>
              <a:rPr lang="pt-BR" sz="2800" b="1" dirty="0" err="1">
                <a:solidFill>
                  <a:srgbClr val="494949"/>
                </a:solidFill>
              </a:rPr>
              <a:t>Kibana</a:t>
            </a:r>
            <a:endParaRPr lang="pt-BR" sz="28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494949"/>
                </a:solidFill>
              </a:rPr>
              <a:t>Rastreamento, análise e solução de problemas</a:t>
            </a:r>
            <a:r>
              <a:rPr lang="pt-BR" sz="2800" dirty="0">
                <a:solidFill>
                  <a:srgbClr val="494949"/>
                </a:solidFill>
              </a:rPr>
              <a:t> relacionados ao desempenho de aplicações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Site:</a:t>
            </a:r>
            <a:br>
              <a:rPr lang="pt-BR" sz="2800" dirty="0">
                <a:solidFill>
                  <a:srgbClr val="494949"/>
                </a:solidFill>
              </a:rPr>
            </a:br>
            <a:r>
              <a:rPr lang="pt-BR" sz="2000" dirty="0">
                <a:solidFill>
                  <a:srgbClr val="494949"/>
                </a:solidFill>
                <a:hlinkClick r:id="rId3"/>
              </a:rPr>
              <a:t>https://www.elastic.co/pt/observability/application-performance-monitoring</a:t>
            </a:r>
            <a:endParaRPr lang="pt-BR" sz="2800" dirty="0">
              <a:solidFill>
                <a:srgbClr val="494949"/>
              </a:solidFill>
            </a:endParaRPr>
          </a:p>
        </p:txBody>
      </p:sp>
      <p:pic>
        <p:nvPicPr>
          <p:cNvPr id="6" name="Imagem 5" descr="Forma&#10;&#10;Descrição gerada automaticamente">
            <a:extLst>
              <a:ext uri="{FF2B5EF4-FFF2-40B4-BE49-F238E27FC236}">
                <a16:creationId xmlns:a16="http://schemas.microsoft.com/office/drawing/2014/main" id="{EA62DC7F-9EF9-504E-0EB4-324EC0F4D4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5437" y="3952465"/>
            <a:ext cx="1435919" cy="1435919"/>
          </a:xfrm>
          <a:prstGeom prst="rect">
            <a:avLst/>
          </a:prstGeom>
        </p:spPr>
      </p:pic>
      <p:grpSp>
        <p:nvGrpSpPr>
          <p:cNvPr id="7" name="Agrupar 6">
            <a:extLst>
              <a:ext uri="{FF2B5EF4-FFF2-40B4-BE49-F238E27FC236}">
                <a16:creationId xmlns:a16="http://schemas.microsoft.com/office/drawing/2014/main" id="{1E2F1ECA-6891-9343-D15F-AA9F4D3968F9}"/>
              </a:ext>
            </a:extLst>
          </p:cNvPr>
          <p:cNvGrpSpPr/>
          <p:nvPr/>
        </p:nvGrpSpPr>
        <p:grpSpPr>
          <a:xfrm>
            <a:off x="9647237" y="2201862"/>
            <a:ext cx="1752600" cy="1750603"/>
            <a:chOff x="1899467" y="3802062"/>
            <a:chExt cx="1981200" cy="1981200"/>
          </a:xfrm>
        </p:grpSpPr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AC74ABF7-2805-7659-8E11-08815C60F7EA}"/>
                </a:ext>
              </a:extLst>
            </p:cNvPr>
            <p:cNvSpPr/>
            <p:nvPr/>
          </p:nvSpPr>
          <p:spPr bwMode="auto">
            <a:xfrm>
              <a:off x="1899467" y="3802062"/>
              <a:ext cx="1981200" cy="1981200"/>
            </a:xfrm>
            <a:prstGeom prst="ellipse">
              <a:avLst/>
            </a:prstGeom>
            <a:solidFill>
              <a:schemeClr val="accent4">
                <a:lumMod val="1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pt-BR" sz="2000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9" name="Gráfico 8">
              <a:extLst>
                <a:ext uri="{FF2B5EF4-FFF2-40B4-BE49-F238E27FC236}">
                  <a16:creationId xmlns:a16="http://schemas.microsoft.com/office/drawing/2014/main" id="{CDF12E0C-0A47-9B75-0150-F3815AD8C4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55837" y="4259262"/>
              <a:ext cx="1143000" cy="1143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20974651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995CA-5260-F2C4-DE4B-D05585D76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A9607-59E1-1B3E-DA7E-91D3FA44E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Conteúdos desta apresentação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971FAB6B-C29F-5542-A1BD-2F4BB7C5F336}"/>
              </a:ext>
            </a:extLst>
          </p:cNvPr>
          <p:cNvSpPr>
            <a:spLocks noGrp="1"/>
          </p:cNvSpPr>
          <p:nvPr/>
        </p:nvSpPr>
        <p:spPr>
          <a:xfrm>
            <a:off x="992553" y="3617497"/>
            <a:ext cx="10483484" cy="53091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500" b="1" dirty="0">
                <a:solidFill>
                  <a:schemeClr val="bg1"/>
                </a:solidFill>
              </a:rPr>
              <a:t>github.com/</a:t>
            </a:r>
            <a:r>
              <a:rPr lang="pt-BR" sz="2500" b="1" dirty="0" err="1">
                <a:solidFill>
                  <a:schemeClr val="bg1"/>
                </a:solidFill>
              </a:rPr>
              <a:t>renatogroffe</a:t>
            </a:r>
            <a:r>
              <a:rPr lang="pt-BR" sz="2500" b="1" dirty="0">
                <a:solidFill>
                  <a:schemeClr val="bg1"/>
                </a:solidFill>
              </a:rPr>
              <a:t>/opentelemetry_dotnet-weekend-sp-2026-05</a:t>
            </a:r>
          </a:p>
        </p:txBody>
      </p:sp>
      <p:pic>
        <p:nvPicPr>
          <p:cNvPr id="7" name="Imagem 6" descr="Ícone&#10;&#10;Descrição gerada automaticamente">
            <a:extLst>
              <a:ext uri="{FF2B5EF4-FFF2-40B4-BE49-F238E27FC236}">
                <a16:creationId xmlns:a16="http://schemas.microsoft.com/office/drawing/2014/main" id="{61476E06-44DA-2981-91E6-69AFCD726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837" y="4627814"/>
            <a:ext cx="1718329" cy="1718329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C21FEC74-69AE-6089-E988-4C2088DB8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43322" y="4640262"/>
            <a:ext cx="1718328" cy="1718328"/>
          </a:xfrm>
          <a:prstGeom prst="rect">
            <a:avLst/>
          </a:prstGeom>
          <a:effectLst/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08B37B9-5888-CF70-DC1F-94AAC3CE78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4881" y="1047941"/>
            <a:ext cx="2366711" cy="236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083898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A6303-7DE3-E30F-D85E-B3E822950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025B87F9-5A47-DB1A-9E3F-9F2FCA1600DE}"/>
              </a:ext>
            </a:extLst>
          </p:cNvPr>
          <p:cNvGrpSpPr/>
          <p:nvPr/>
        </p:nvGrpSpPr>
        <p:grpSpPr>
          <a:xfrm>
            <a:off x="0" y="0"/>
            <a:ext cx="12436475" cy="7078662"/>
            <a:chOff x="0" y="5843723"/>
            <a:chExt cx="12436475" cy="1150802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0E3D746F-EAA3-BD7E-29E3-92DB26B5CED9}"/>
                </a:ext>
              </a:extLst>
            </p:cNvPr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30E2F8B7-2CDC-A19A-CAC5-D640DB718765}"/>
                </a:ext>
              </a:extLst>
            </p:cNvPr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D3B55A6-CD15-7166-CBCD-B71E468BF5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0825" y="5169852"/>
            <a:ext cx="11934824" cy="627864"/>
          </a:xfrm>
        </p:spPr>
        <p:txBody>
          <a:bodyPr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B79747FB-B643-D53C-CD57-A492BD3FA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837" y="2278062"/>
            <a:ext cx="4876800" cy="2179058"/>
          </a:xfrm>
        </p:spPr>
        <p:txBody>
          <a:bodyPr/>
          <a:lstStyle/>
          <a:p>
            <a:pPr algn="ctr"/>
            <a:r>
              <a:rPr lang="pt-BR" dirty="0"/>
              <a:t>EXEMPLOS PRÁTICOS</a:t>
            </a:r>
          </a:p>
        </p:txBody>
      </p:sp>
    </p:spTree>
    <p:extLst>
      <p:ext uri="{BB962C8B-B14F-4D97-AF65-F5344CB8AC3E}">
        <p14:creationId xmlns:p14="http://schemas.microsoft.com/office/powerpoint/2010/main" val="75549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/>
          <p:cNvGrpSpPr/>
          <p:nvPr/>
        </p:nvGrpSpPr>
        <p:grpSpPr>
          <a:xfrm>
            <a:off x="0" y="0"/>
            <a:ext cx="12436475" cy="7078662"/>
            <a:chOff x="0" y="5843723"/>
            <a:chExt cx="12436475" cy="1150802"/>
          </a:xfrm>
        </p:grpSpPr>
        <p:sp>
          <p:nvSpPr>
            <p:cNvPr id="7" name="Retângulo 6"/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/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50825" y="5169852"/>
            <a:ext cx="11934824" cy="627864"/>
          </a:xfrm>
        </p:spPr>
        <p:txBody>
          <a:bodyPr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1581A68B-F4F2-4842-B63E-4808CD8AE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837" y="2883852"/>
            <a:ext cx="4876800" cy="1181862"/>
          </a:xfrm>
        </p:spPr>
        <p:txBody>
          <a:bodyPr/>
          <a:lstStyle/>
          <a:p>
            <a:r>
              <a:rPr lang="pt-BR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207679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.potx" id="{61D5EBA6-A23E-492C-8A07-E4BCB14E768B}" vid="{2C5385DD-25CC-4B4A-8E83-9D91F0EF820F}"/>
    </a:ext>
  </a:extLst>
</a:theme>
</file>

<file path=ppt/theme/theme2.xml><?xml version="1.0" encoding="utf-8"?>
<a:theme xmlns:a="http://schemas.openxmlformats.org/drawingml/2006/main" name="1_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" id="{08B3FEDF-27CE-477E-A1F2-9805036CC047}" vid="{CD0BEC05-913A-4A4A-B174-12DECD18D25B}"/>
    </a:ext>
  </a:extLst>
</a:theme>
</file>

<file path=ppt/theme/theme3.xml><?xml version="1.0" encoding="utf-8"?>
<a:theme xmlns:a="http://schemas.openxmlformats.org/drawingml/2006/main" name="5-30721_Build_2016_Template_Light">
  <a:themeElements>
    <a:clrScheme name="Build 2016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78D7"/>
      </a:accent1>
      <a:accent2>
        <a:srgbClr val="002050"/>
      </a:accent2>
      <a:accent3>
        <a:srgbClr val="00BCF2"/>
      </a:accent3>
      <a:accent4>
        <a:srgbClr val="D2D2D2"/>
      </a:accent4>
      <a:accent5>
        <a:srgbClr val="737373"/>
      </a:accent5>
      <a:accent6>
        <a:srgbClr val="50505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2DD1E4E3-0871-45BE-BEDE-345B55444DCB}"/>
    </a:ext>
  </a:extLst>
</a:theme>
</file>

<file path=ppt/theme/theme4.xml><?xml version="1.0" encoding="utf-8"?>
<a:theme xmlns:a="http://schemas.openxmlformats.org/drawingml/2006/main" name="5-30721_Build_2016_Template_Dark">
  <a:themeElements>
    <a:clrScheme name="Build 2016 Dark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BCF2"/>
      </a:accent1>
      <a:accent2>
        <a:srgbClr val="0078D7"/>
      </a:accent2>
      <a:accent3>
        <a:srgbClr val="002050"/>
      </a:accent3>
      <a:accent4>
        <a:srgbClr val="D2D2D2"/>
      </a:accent4>
      <a:accent5>
        <a:srgbClr val="737373"/>
      </a:accent5>
      <a:accent6>
        <a:srgbClr val="323232"/>
      </a:accent6>
      <a:hlink>
        <a:srgbClr val="5DDCFF"/>
      </a:hlink>
      <a:folHlink>
        <a:srgbClr val="5DDCFF"/>
      </a:folHlink>
    </a:clrScheme>
    <a:fontScheme name="Custom 2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EE767E89-5D4D-44CA-8070-C9EE1D87F83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kesCount xmlns="http://schemas.microsoft.com/sharepoint/v3" xsi:nil="true"/>
    <d12e2661e9634d9aa98bbb375f31aced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Georgia World Congress Center</TermName>
          <TermId xmlns="http://schemas.microsoft.com/office/infopath/2007/PartnerControls">ea0ece34-59a6-4d43-8d9e-d0f9e2a2f1ce</TermId>
        </TermInfo>
      </Terms>
    </d12e2661e9634d9aa98bbb375f31aced>
    <Event_x0020_Start_x0020_Date xmlns="01c77077-aee4-4b5f-bd4e-9cd40a6fff29">2016-09-25T07:00:00+00:00</Event_x0020_Start_x0020_Date>
    <Target_x0020_Audiences xmlns="8ff673fc-3231-4e3a-893b-6d7f7cd32766" xsi:nil="true"/>
    <iaa5f83406f94009a0f6a3e890699ff7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Atlanta</TermName>
          <TermId xmlns="http://schemas.microsoft.com/office/infopath/2007/PartnerControls">01fb9831-5840-48a0-a576-3e48f42baa53</TermId>
        </TermInfo>
      </Terms>
    </iaa5f83406f94009a0f6a3e890699ff7>
    <External_x0020_Speaker xmlns="01c77077-aee4-4b5f-bd4e-9cd40a6fff29">Michael Kelley</External_x0020_Speaker>
    <m6878b9dd7994da4ba144f95347d99c6 xmlns="01c77077-aee4-4b5f-bd4e-9cd40a6fff29">
      <Terms xmlns="http://schemas.microsoft.com/office/infopath/2007/PartnerControls"/>
    </m6878b9dd7994da4ba144f95347d99c6>
    <Presentation_x0020_Date xmlns="01c77077-aee4-4b5f-bd4e-9cd40a6fff29">2016-09-28T04:00:00+00:00</Presentation_x0020_Date>
    <fc15c16204564de583b4c942b10d19ec xmlns="01c77077-aee4-4b5f-bd4e-9cd40a6fff29">
      <Terms xmlns="http://schemas.microsoft.com/office/infopath/2007/PartnerControls"/>
    </fc15c16204564de583b4c942b10d19ec>
    <mb2e01f7e2d8413988e28e59aa226eec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</TermName>
          <TermId xmlns="http://schemas.microsoft.com/office/infopath/2007/PartnerControls">9323c522-fe4b-4922-816b-10a1920d7afb</TermId>
        </TermInfo>
      </Terms>
    </mb2e01f7e2d8413988e28e59aa226eec>
    <MS_x0020_Content_x0020_Owner xmlns="01c77077-aee4-4b5f-bd4e-9cd40a6fff29">
      <UserInfo>
        <DisplayName/>
        <AccountId xsi:nil="true"/>
        <AccountType/>
      </UserInfo>
    </MS_x0020_Content_x0020_Owner>
    <Session_x0020_Code xmlns="01c77077-aee4-4b5f-bd4e-9cd40a6fff29">BRK2158</Session_x0020_Code>
    <Event_x0020_End_x0020_Date xmlns="01c77077-aee4-4b5f-bd4e-9cd40a6fff29">2016-09-30T07:00:00+00:00</Event_x0020_End_x0020_Date>
    <o1010385baed4da9b5076a6aa651d1e5 xmlns="01c77077-aee4-4b5f-bd4e-9cd40a6fff29">
      <Terms xmlns="http://schemas.microsoft.com/office/infopath/2007/PartnerControls"/>
    </o1010385baed4da9b5076a6aa651d1e5>
    <kc6d1bd9a46e4e5fbbbf99ca3de7a092 xmlns="01c77077-aee4-4b5f-bd4e-9cd40a6fff29">
      <Terms xmlns="http://schemas.microsoft.com/office/infopath/2007/PartnerControls"/>
    </kc6d1bd9a46e4e5fbbbf99ca3de7a092>
    <MS_x0020_Speaker xmlns="01c77077-aee4-4b5f-bd4e-9cd40a6fff29">
      <UserInfo>
        <DisplayName/>
        <AccountId xsi:nil="true"/>
        <AccountType/>
      </UserInfo>
    </MS_x0020_Speaker>
    <TaxKeywordTaxHTField xmlns="230e9df3-be65-4c73-a93b-d1236ebd677e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 2016</TermName>
          <TermId xmlns="http://schemas.microsoft.com/office/infopath/2007/PartnerControls">e2f6a88c-86f9-4b25-a2af-b5c3afa8c82a</TermId>
        </TermInfo>
      </Terms>
    </TaxKeywordTaxHTField>
    <TaxCatchAll xmlns="230e9df3-be65-4c73-a93b-d1236ebd677e">
      <Value>174</Value>
      <Value>177</Value>
      <Value>176</Value>
      <Value>175</Value>
    </TaxCatchAll>
    <NumberofDownloads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PresentationsDoc" ma:contentTypeID="0x01010031DCF4CA090F824DB1E4CCBB6B9D64EA00101E8AAD132F8F4D96340D6376C8BB3E" ma:contentTypeVersion="22" ma:contentTypeDescription="" ma:contentTypeScope="" ma:versionID="8add498658ef06bbcf3bc1f2c97d938c">
  <xsd:schema xmlns:xsd="http://www.w3.org/2001/XMLSchema" xmlns:xs="http://www.w3.org/2001/XMLSchema" xmlns:p="http://schemas.microsoft.com/office/2006/metadata/properties" xmlns:ns1="http://schemas.microsoft.com/sharepoint/v3" xmlns:ns2="01c77077-aee4-4b5f-bd4e-9cd40a6fff29" xmlns:ns3="230e9df3-be65-4c73-a93b-d1236ebd677e" xmlns:ns5="8ff673fc-3231-4e3a-893b-6d7f7cd32766" targetNamespace="http://schemas.microsoft.com/office/2006/metadata/properties" ma:root="true" ma:fieldsID="a14070d067e341e7ddc7e27ecc4a2d88" ns1:_="" ns2:_="" ns3:_="" ns5:_="">
    <xsd:import namespace="http://schemas.microsoft.com/sharepoint/v3"/>
    <xsd:import namespace="01c77077-aee4-4b5f-bd4e-9cd40a6fff29"/>
    <xsd:import namespace="230e9df3-be65-4c73-a93b-d1236ebd677e"/>
    <xsd:import namespace="8ff673fc-3231-4e3a-893b-6d7f7cd32766"/>
    <xsd:element name="properties">
      <xsd:complexType>
        <xsd:sequence>
          <xsd:element name="documentManagement">
            <xsd:complexType>
              <xsd:all>
                <xsd:element ref="ns2:mb2e01f7e2d8413988e28e59aa226eec" minOccurs="0"/>
                <xsd:element ref="ns3:TaxCatchAll" minOccurs="0"/>
                <xsd:element ref="ns3:TaxCatchAllLabel" minOccurs="0"/>
                <xsd:element ref="ns2:iaa5f83406f94009a0f6a3e890699ff7" minOccurs="0"/>
                <xsd:element ref="ns2:d12e2661e9634d9aa98bbb375f31aced" minOccurs="0"/>
                <xsd:element ref="ns2:Event_x0020_Start_x0020_Date" minOccurs="0"/>
                <xsd:element ref="ns2:Event_x0020_End_x0020_Date" minOccurs="0"/>
                <xsd:element ref="ns2:Presentation_x0020_Date" minOccurs="0"/>
                <xsd:element ref="ns2:MS_x0020_Speaker" minOccurs="0"/>
                <xsd:element ref="ns2:External_x0020_Speaker" minOccurs="0"/>
                <xsd:element ref="ns2:o1010385baed4da9b5076a6aa651d1e5" minOccurs="0"/>
                <xsd:element ref="ns2:kc6d1bd9a46e4e5fbbbf99ca3de7a092" minOccurs="0"/>
                <xsd:element ref="ns2:Session_x0020_Code" minOccurs="0"/>
                <xsd:element ref="ns2:MS_x0020_Content_x0020_Owner" minOccurs="0"/>
                <xsd:element ref="ns2:m6878b9dd7994da4ba144f95347d99c6" minOccurs="0"/>
                <xsd:element ref="ns2:fc15c16204564de583b4c942b10d19ec" minOccurs="0"/>
                <xsd:element ref="ns1:AverageRating" minOccurs="0"/>
                <xsd:element ref="ns1:RatingCount" minOccurs="0"/>
                <xsd:element ref="ns1:LikesCount" minOccurs="0"/>
                <xsd:element ref="ns3:TaxKeywordTaxHTField" minOccurs="0"/>
                <xsd:element ref="ns5:Target_x0020_Audiences" minOccurs="0"/>
                <xsd:element ref="ns2:SharedWithUsers" minOccurs="0"/>
                <xsd:element ref="ns2:SharedWithDetails" minOccurs="0"/>
                <xsd:element ref="ns3:NumberofDownloa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31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32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LikesCount" ma:index="33" nillable="true" ma:displayName="Number of Likes" ma:internalName="LikesCount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c77077-aee4-4b5f-bd4e-9cd40a6fff29" elementFormDefault="qualified">
    <xsd:import namespace="http://schemas.microsoft.com/office/2006/documentManagement/types"/>
    <xsd:import namespace="http://schemas.microsoft.com/office/infopath/2007/PartnerControls"/>
    <xsd:element name="mb2e01f7e2d8413988e28e59aa226eec" ma:index="8" nillable="true" ma:taxonomy="true" ma:internalName="mb2e01f7e2d8413988e28e59aa226eec" ma:taxonomyFieldName="Event_x0020_Name" ma:displayName="Event Name" ma:default="" ma:fieldId="{6b2e01f7-e2d8-4139-88e2-8e59aa226eec}" ma:sspId="e385fb40-52d4-4fae-9c5b-3e8ff8a5878e" ma:termSetId="32cfb7b5-aebe-4989-95ed-0d5619f5d6c0" ma:anchorId="eaa4d92a-3824-4a49-92be-7ef169e4e325" ma:open="false" ma:isKeyword="false">
      <xsd:complexType>
        <xsd:sequence>
          <xsd:element ref="pc:Terms" minOccurs="0" maxOccurs="1"/>
        </xsd:sequence>
      </xsd:complexType>
    </xsd:element>
    <xsd:element name="iaa5f83406f94009a0f6a3e890699ff7" ma:index="12" nillable="true" ma:taxonomy="true" ma:internalName="iaa5f83406f94009a0f6a3e890699ff7" ma:taxonomyFieldName="Event_x0020_Location" ma:displayName="Event Location" ma:default="" ma:fieldId="{2aa5f834-06f9-4009-a0f6-a3e890699ff7}" ma:sspId="e385fb40-52d4-4fae-9c5b-3e8ff8a5878e" ma:termSetId="ff02addd-433e-4baa-a831-22be402789d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12e2661e9634d9aa98bbb375f31aced" ma:index="14" nillable="true" ma:taxonomy="true" ma:internalName="d12e2661e9634d9aa98bbb375f31aced" ma:taxonomyFieldName="Event_x0020_Venue" ma:displayName="Event Venue" ma:default="" ma:fieldId="{d12e2661-e963-4d9a-a98b-bb375f31aced}" ma:sspId="e385fb40-52d4-4fae-9c5b-3e8ff8a5878e" ma:termSetId="ff02addd-433e-4baa-a831-22be402789db" ma:anchorId="d989be80-0593-11e1-be50-0800200c9a66" ma:open="false" ma:isKeyword="false">
      <xsd:complexType>
        <xsd:sequence>
          <xsd:element ref="pc:Terms" minOccurs="0" maxOccurs="1"/>
        </xsd:sequence>
      </xsd:complexType>
    </xsd:element>
    <xsd:element name="Event_x0020_Start_x0020_Date" ma:index="16" nillable="true" ma:displayName="Event Start Date" ma:format="DateOnly" ma:internalName="Event_x0020_Start_x0020_Date">
      <xsd:simpleType>
        <xsd:restriction base="dms:DateTime"/>
      </xsd:simpleType>
    </xsd:element>
    <xsd:element name="Event_x0020_End_x0020_Date" ma:index="17" nillable="true" ma:displayName="Event End Date" ma:format="DateOnly" ma:internalName="Event_x0020_End_x0020_Date">
      <xsd:simpleType>
        <xsd:restriction base="dms:DateTime"/>
      </xsd:simpleType>
    </xsd:element>
    <xsd:element name="Presentation_x0020_Date" ma:index="18" nillable="true" ma:displayName="Presentation Date" ma:format="DateOnly" ma:internalName="Presentation_x0020_Date">
      <xsd:simpleType>
        <xsd:restriction base="dms:DateTime"/>
      </xsd:simpleType>
    </xsd:element>
    <xsd:element name="MS_x0020_Speaker" ma:index="19" nillable="true" ma:displayName="MS Speaker" ma:list="UserInfo" ma:SharePointGroup="0" ma:internalName="MS_x0020_Speaker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xternal_x0020_Speaker" ma:index="20" nillable="true" ma:displayName="External Speaker" ma:internalName="External_x0020_Speaker">
      <xsd:simpleType>
        <xsd:restriction base="dms:Text">
          <xsd:maxLength value="255"/>
        </xsd:restriction>
      </xsd:simpleType>
    </xsd:element>
    <xsd:element name="o1010385baed4da9b5076a6aa651d1e5" ma:index="21" nillable="true" ma:taxonomy="true" ma:internalName="o1010385baed4da9b5076a6aa651d1e5" ma:taxonomyFieldName="Product" ma:displayName="Product" ma:default="" ma:fieldId="{81010385-baed-4da9-b507-6a6aa651d1e5}" ma:taxonomyMulti="true" ma:sspId="e385fb40-52d4-4fae-9c5b-3e8ff8a5878e" ma:termSetId="e8298524-23d5-441d-8e61-21bed1c2c47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c6d1bd9a46e4e5fbbbf99ca3de7a092" ma:index="23" nillable="true" ma:taxonomy="true" ma:internalName="kc6d1bd9a46e4e5fbbbf99ca3de7a092" ma:taxonomyFieldName="Campaign" ma:displayName="Campaign" ma:default="" ma:fieldId="{4c6d1bd9-a46e-4e5f-bbbf-99ca3de7a092}" ma:taxonomyMulti="true" ma:sspId="e385fb40-52d4-4fae-9c5b-3e8ff8a5878e" ma:termSetId="eb6054b1-3a98-4c79-97b4-d20150dd266e" ma:anchorId="a7bf803d-fc4f-4bb4-903c-88e76437cc17" ma:open="false" ma:isKeyword="false">
      <xsd:complexType>
        <xsd:sequence>
          <xsd:element ref="pc:Terms" minOccurs="0" maxOccurs="1"/>
        </xsd:sequence>
      </xsd:complexType>
    </xsd:element>
    <xsd:element name="Session_x0020_Code" ma:index="25" nillable="true" ma:displayName="Session Code" ma:internalName="Session_x0020_Code">
      <xsd:simpleType>
        <xsd:restriction base="dms:Text">
          <xsd:maxLength value="255"/>
        </xsd:restriction>
      </xsd:simpleType>
    </xsd:element>
    <xsd:element name="MS_x0020_Content_x0020_Owner" ma:index="26" nillable="true" ma:displayName="MS Content Owner" ma:list="UserInfo" ma:SharePointGroup="0" ma:internalName="MS_x0020_Content_x0020_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6878b9dd7994da4ba144f95347d99c6" ma:index="27" nillable="true" ma:taxonomy="true" ma:internalName="m6878b9dd7994da4ba144f95347d99c6" ma:taxonomyFieldName="Track" ma:displayName="Track" ma:readOnly="false" ma:default="" ma:fieldId="{66878b9d-d799-4da4-ba14-4f95347d99c6}" ma:sspId="e385fb40-52d4-4fae-9c5b-3e8ff8a5878e" ma:termSetId="8113a965-58e2-4a85-99b9-55376be5482e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fc15c16204564de583b4c942b10d19ec" ma:index="29" nillable="true" ma:taxonomy="true" ma:internalName="fc15c16204564de583b4c942b10d19ec" ma:taxonomyFieldName="Audience1" ma:displayName="Audience" ma:default="" ma:fieldId="{fc15c162-0456-4de5-83b4-c942b10d19ec}" ma:taxonomyMulti="true" ma:sspId="e385fb40-52d4-4fae-9c5b-3e8ff8a5878e" ma:termSetId="02c0b350-7782-44ed-b079-a5ef0c1b9fe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aredWithUsers" ma:index="3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description="" ma:hidden="true" ma:list="{0d8ba32e-6f24-4e39-985b-e3fd5ec6bdb7}" ma:internalName="TaxCatchAll" ma:showField="CatchAllData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description="" ma:hidden="true" ma:list="{0d8ba32e-6f24-4e39-985b-e3fd5ec6bdb7}" ma:internalName="TaxCatchAllLabel" ma:readOnly="true" ma:showField="CatchAllDataLabel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35" nillable="true" ma:taxonomy="true" ma:internalName="TaxKeywordTaxHTField" ma:taxonomyFieldName="TaxKeyword" ma:displayName="Enterprise Keywords" ma:fieldId="{23f27201-bee3-471e-b2e7-b64fd8b7ca38}" ma:taxonomyMulti="true" ma:sspId="e385fb40-52d4-4fae-9c5b-3e8ff8a5878e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NumberofDownloads" ma:index="40" nillable="true" ma:displayName="NumberofDownloads" ma:internalName="NumberofDownload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f673fc-3231-4e3a-893b-6d7f7cd32766" elementFormDefault="qualified">
    <xsd:import namespace="http://schemas.microsoft.com/office/2006/documentManagement/types"/>
    <xsd:import namespace="http://schemas.microsoft.com/office/infopath/2007/PartnerControls"/>
    <xsd:element name="Target_x0020_Audiences" ma:index="37" nillable="true" ma:displayName="Target Audiences" ma:internalName="Target_x0020_Audiences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34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990F116-B58F-4255-B05B-DA3808E0E5C6}">
  <ds:schemaRefs>
    <ds:schemaRef ds:uri="http://purl.org/dc/elements/1.1/"/>
    <ds:schemaRef ds:uri="http://purl.org/dc/dcmitype/"/>
    <ds:schemaRef ds:uri="230e9df3-be65-4c73-a93b-d1236ebd677e"/>
    <ds:schemaRef ds:uri="http://schemas.microsoft.com/office/infopath/2007/PartnerControls"/>
    <ds:schemaRef ds:uri="http://schemas.microsoft.com/office/2006/metadata/properties"/>
    <ds:schemaRef ds:uri="01c77077-aee4-4b5f-bd4e-9cd40a6fff29"/>
    <ds:schemaRef ds:uri="http://schemas.microsoft.com/sharepoint/v3"/>
    <ds:schemaRef ds:uri="8ff673fc-3231-4e3a-893b-6d7f7cd32766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D8F288A-5131-4E80-AB86-F10FC03738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1c77077-aee4-4b5f-bd4e-9cd40a6fff29"/>
    <ds:schemaRef ds:uri="230e9df3-be65-4c73-a93b-d1236ebd677e"/>
    <ds:schemaRef ds:uri="8ff673fc-3231-4e3a-893b-6d7f7cd327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Microsoft_Ignite_2016_16x9_Template</Template>
  <TotalTime>1563</TotalTime>
  <Words>1388</Words>
  <Application>Microsoft Office PowerPoint</Application>
  <PresentationFormat>Personalizar</PresentationFormat>
  <Paragraphs>216</Paragraphs>
  <Slides>24</Slides>
  <Notes>24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24</vt:i4>
      </vt:variant>
    </vt:vector>
  </HeadingPairs>
  <TitlesOfParts>
    <vt:vector size="33" baseType="lpstr">
      <vt:lpstr>Arial</vt:lpstr>
      <vt:lpstr>Consolas</vt:lpstr>
      <vt:lpstr>Segoe UI</vt:lpstr>
      <vt:lpstr>Segoe UI Light</vt:lpstr>
      <vt:lpstr>Wingdings</vt:lpstr>
      <vt:lpstr>5-50002_Ignite_Breakout_Template</vt:lpstr>
      <vt:lpstr>1_5-50002_Ignite_Breakout_Template</vt:lpstr>
      <vt:lpstr>5-30721_Build_2016_Template_Light</vt:lpstr>
      <vt:lpstr>5-30721_Build_2016_Template_Dark</vt:lpstr>
      <vt:lpstr>Observabilidade Unificada com OpenTelemetry Tracing de aplicações distribuídas em .NET e outras stacks</vt:lpstr>
      <vt:lpstr>Renato Groffe</vt:lpstr>
      <vt:lpstr>Participe de nossas iniciativas gratuitas</vt:lpstr>
      <vt:lpstr>Conteúdos desta apresentação</vt:lpstr>
      <vt:lpstr>Agenda</vt:lpstr>
      <vt:lpstr>Aplicações Distribuídas e Microservices: desafios</vt:lpstr>
      <vt:lpstr>Pilares da Observabilidade</vt:lpstr>
      <vt:lpstr>Distributed Tracing: uma visão geral</vt:lpstr>
      <vt:lpstr>Distributed Tracing: uma visão geral</vt:lpstr>
      <vt:lpstr>Tracing: elementos e conceitos importantes</vt:lpstr>
      <vt:lpstr>OpenTelemetry: uma visão geral</vt:lpstr>
      <vt:lpstr>OpenTelemetry: uma visão geral</vt:lpstr>
      <vt:lpstr>OpenTelemetry: uma visão geral</vt:lpstr>
      <vt:lpstr>OpenTelemetry + .NET</vt:lpstr>
      <vt:lpstr>OpenTelemetry + .NET</vt:lpstr>
      <vt:lpstr>Grafana: uma visão geral</vt:lpstr>
      <vt:lpstr>Ecossistema Grafana + OpenTelemetry + Prometheus</vt:lpstr>
      <vt:lpstr>Alloy: uma visão geral</vt:lpstr>
      <vt:lpstr>Jaeger: uma visão geral</vt:lpstr>
      <vt:lpstr>Zipkin: uma visão geral</vt:lpstr>
      <vt:lpstr>Elastic APM: uma visão geral</vt:lpstr>
      <vt:lpstr>Conteúdos desta apresentação</vt:lpstr>
      <vt:lpstr>EXEMPLOS PRÁTICOS</vt:lpstr>
      <vt:lpstr>OBRIGADO!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 why Microsoft loves Linux and Open Source</dc:title>
  <dc:subject>&lt;Speech title here&gt;</dc:subject>
  <dc:creator>Michael Kelley (OSTC)</dc:creator>
  <cp:keywords>Microsoft Ignite 2016</cp:keywords>
  <dc:description>Template: Mitchell Derrey, Silverfox Productions_x000d_
Formatting: _x000d_
Audience Type:</dc:description>
  <cp:lastModifiedBy>Renato Groffe</cp:lastModifiedBy>
  <cp:revision>517</cp:revision>
  <dcterms:created xsi:type="dcterms:W3CDTF">2016-08-05T22:03:34Z</dcterms:created>
  <dcterms:modified xsi:type="dcterms:W3CDTF">2026-05-16T07:57:13Z</dcterms:modified>
  <cp:category>Microsoft Ignite 2016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0x01010031DCF4CA090F824DB1E4CCBB6B9D64EA00101E8AAD132F8F4D96340D6376C8BB3E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>177;#Georgia World Congress Center|ea0ece34-59a6-4d43-8d9e-d0f9e2a2f1ce</vt:lpwstr>
  </property>
  <property fmtid="{D5CDD505-2E9C-101B-9397-08002B2CF9AE}" pid="7" name="Track">
    <vt:lpwstr/>
  </property>
  <property fmtid="{D5CDD505-2E9C-101B-9397-08002B2CF9AE}" pid="8" name="Event Location">
    <vt:lpwstr>176;#Atlanta|01fb9831-5840-48a0-a576-3e48f42baa53</vt:lpwstr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TaxKeyword">
    <vt:lpwstr>174;#Microsoft Ignite 2016|e2f6a88c-86f9-4b25-a2af-b5c3afa8c82a</vt:lpwstr>
  </property>
  <property fmtid="{D5CDD505-2E9C-101B-9397-08002B2CF9AE}" pid="12" name="Audience1">
    <vt:lpwstr/>
  </property>
  <property fmtid="{D5CDD505-2E9C-101B-9397-08002B2CF9AE}" pid="13" name="Event Name">
    <vt:lpwstr>175;#Microsoft Ignite|9323c522-fe4b-4922-816b-10a1920d7afb</vt:lpwstr>
  </property>
</Properties>
</file>